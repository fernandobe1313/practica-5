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f99ed1310b4c74" /><Relationship Type="http://schemas.openxmlformats.org/officeDocument/2006/relationships/extended-properties" Target="/docProps/app.xml" Id="R2fd47d02aa7b435c" /><Relationship Type="http://schemas.openxmlformats.org/officeDocument/2006/relationships/officeDocument" Target="/ppt/presentation.xml" Id="Rbf2c08a3a7cf4c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d6f99a9eb94d60"/>
  </p:sldMasterIdLst>
  <p:notesMasterIdLst>
    <p:notesMasterId xmlns:r="http://schemas.openxmlformats.org/officeDocument/2006/relationships" r:id="Raeeba8122c5c4d7f"/>
  </p:notesMasterIdLst>
  <p:sldIdLst>
    <p:sldId xmlns:r="http://schemas.openxmlformats.org/officeDocument/2006/relationships" id="256" r:id="R6b9003b1d49e4c75"/>
    <p:sldId xmlns:r="http://schemas.openxmlformats.org/officeDocument/2006/relationships" id="257" r:id="Rd89c944f801848fc"/>
    <p:sldId xmlns:r="http://schemas.openxmlformats.org/officeDocument/2006/relationships" id="258" r:id="R77d2dbb487034bfd"/>
    <p:sldId xmlns:r="http://schemas.openxmlformats.org/officeDocument/2006/relationships" id="259" r:id="R89ff309e0bbe4869"/>
    <p:sldId xmlns:r="http://schemas.openxmlformats.org/officeDocument/2006/relationships" id="260" r:id="R0582b92fe0c64b0d"/>
    <p:sldId xmlns:r="http://schemas.openxmlformats.org/officeDocument/2006/relationships" id="261" r:id="R3fe76df4d2f1437f"/>
    <p:sldId xmlns:r="http://schemas.openxmlformats.org/officeDocument/2006/relationships" id="262" r:id="R21237a8cae274d27"/>
    <p:sldId xmlns:r="http://schemas.openxmlformats.org/officeDocument/2006/relationships" id="263" r:id="Rfa7cf954a7554ef6"/>
    <p:sldId xmlns:r="http://schemas.openxmlformats.org/officeDocument/2006/relationships" id="264" r:id="Rc18b83a5f5814db0"/>
    <p:sldId xmlns:r="http://schemas.openxmlformats.org/officeDocument/2006/relationships" id="265" r:id="R1c8ba36b8cec489b"/>
    <p:sldId xmlns:r="http://schemas.openxmlformats.org/officeDocument/2006/relationships" id="266" r:id="Red25eca75b604e1e"/>
    <p:sldId xmlns:r="http://schemas.openxmlformats.org/officeDocument/2006/relationships" id="267" r:id="R25ac1f413e644189"/>
    <p:sldId xmlns:r="http://schemas.openxmlformats.org/officeDocument/2006/relationships" id="268" r:id="R1b882dc78e1348b5"/>
    <p:sldId xmlns:r="http://schemas.openxmlformats.org/officeDocument/2006/relationships" id="269" r:id="Rd99b1e9f4a26431b"/>
    <p:sldId xmlns:r="http://schemas.openxmlformats.org/officeDocument/2006/relationships" id="270" r:id="R3a2823fcd2a74528"/>
    <p:sldId xmlns:r="http://schemas.openxmlformats.org/officeDocument/2006/relationships" id="271" r:id="R0d41d61862964331"/>
    <p:sldId xmlns:r="http://schemas.openxmlformats.org/officeDocument/2006/relationships" id="272" r:id="R9a37330a7b79454a"/>
    <p:sldId xmlns:r="http://schemas.openxmlformats.org/officeDocument/2006/relationships" id="273" r:id="R4de33dc15e154d51"/>
    <p:sldId xmlns:r="http://schemas.openxmlformats.org/officeDocument/2006/relationships" id="274" r:id="R3754f950bd774644"/>
    <p:sldId xmlns:r="http://schemas.openxmlformats.org/officeDocument/2006/relationships" id="275" r:id="R2db2b73a2a8842d4"/>
    <p:sldId xmlns:r="http://schemas.openxmlformats.org/officeDocument/2006/relationships" id="276" r:id="Rf77882dc36974d78"/>
    <p:sldId xmlns:r="http://schemas.openxmlformats.org/officeDocument/2006/relationships" id="277" r:id="Re2328427acd147d0"/>
    <p:sldId xmlns:r="http://schemas.openxmlformats.org/officeDocument/2006/relationships" id="278" r:id="R8b0dc0ad44904140"/>
    <p:sldId xmlns:r="http://schemas.openxmlformats.org/officeDocument/2006/relationships" id="279" r:id="R21fe9f31c5a54ed9"/>
    <p:sldId xmlns:r="http://schemas.openxmlformats.org/officeDocument/2006/relationships" id="280" r:id="Rf5dcca9d407a4cc5"/>
    <p:sldId xmlns:r="http://schemas.openxmlformats.org/officeDocument/2006/relationships" id="281" r:id="R9e5c03e1504a4d04"/>
    <p:sldId xmlns:r="http://schemas.openxmlformats.org/officeDocument/2006/relationships" id="282" r:id="Rf01c4368d06046f4"/>
    <p:sldId xmlns:r="http://schemas.openxmlformats.org/officeDocument/2006/relationships" id="283" r:id="R447f49a1ffab4e9c"/>
    <p:sldId xmlns:r="http://schemas.openxmlformats.org/officeDocument/2006/relationships" id="284" r:id="Re8978e858bec44f0"/>
    <p:sldId xmlns:r="http://schemas.openxmlformats.org/officeDocument/2006/relationships" id="285" r:id="R5fdafe7cb7914c52"/>
    <p:sldId xmlns:r="http://schemas.openxmlformats.org/officeDocument/2006/relationships" id="286" r:id="R2d8267bb239f4db3"/>
    <p:sldId xmlns:r="http://schemas.openxmlformats.org/officeDocument/2006/relationships" id="287" r:id="R363bf7611b7e4145"/>
    <p:sldId xmlns:r="http://schemas.openxmlformats.org/officeDocument/2006/relationships" id="288" r:id="R0bcb70365e3b4748"/>
    <p:sldId xmlns:r="http://schemas.openxmlformats.org/officeDocument/2006/relationships" id="289" r:id="R030a4a25187149b6"/>
    <p:sldId xmlns:r="http://schemas.openxmlformats.org/officeDocument/2006/relationships" id="290" r:id="Rfe3ad22f67a1468a"/>
    <p:sldId xmlns:r="http://schemas.openxmlformats.org/officeDocument/2006/relationships" id="291" r:id="R78c159439fd84d80"/>
    <p:sldId xmlns:r="http://schemas.openxmlformats.org/officeDocument/2006/relationships" id="292" r:id="R3a66dbaf01c44318"/>
    <p:sldId xmlns:r="http://schemas.openxmlformats.org/officeDocument/2006/relationships" id="293" r:id="R83bfc0723c0348ff"/>
    <p:sldId xmlns:r="http://schemas.openxmlformats.org/officeDocument/2006/relationships" id="294" r:id="Ra94c23e6e9d14ec5"/>
    <p:sldId xmlns:r="http://schemas.openxmlformats.org/officeDocument/2006/relationships" id="295" r:id="R64553ccea0b947b6"/>
    <p:sldId xmlns:r="http://schemas.openxmlformats.org/officeDocument/2006/relationships" id="296" r:id="R7b9e96e8c73c463a"/>
    <p:sldId xmlns:r="http://schemas.openxmlformats.org/officeDocument/2006/relationships" id="297" r:id="Ree4e2a3844914810"/>
    <p:sldId xmlns:r="http://schemas.openxmlformats.org/officeDocument/2006/relationships" id="298" r:id="R85cbce34d17247d7"/>
    <p:sldId xmlns:r="http://schemas.openxmlformats.org/officeDocument/2006/relationships" id="299" r:id="Rd6e5e295ce7146c4"/>
    <p:sldId xmlns:r="http://schemas.openxmlformats.org/officeDocument/2006/relationships" id="300" r:id="Re4ad107fc13541de"/>
    <p:sldId xmlns:r="http://schemas.openxmlformats.org/officeDocument/2006/relationships" id="301" r:id="R794df90a07b74e1d"/>
    <p:sldId xmlns:r="http://schemas.openxmlformats.org/officeDocument/2006/relationships" id="302" r:id="Rc0ab11f5abed4200"/>
    <p:sldId xmlns:r="http://schemas.openxmlformats.org/officeDocument/2006/relationships" id="303" r:id="R1ad82b80c47c4580"/>
    <p:sldId xmlns:r="http://schemas.openxmlformats.org/officeDocument/2006/relationships" id="304" r:id="Rb676dae36672468c"/>
    <p:sldId xmlns:r="http://schemas.openxmlformats.org/officeDocument/2006/relationships" id="305" r:id="R6e21928b6be84454"/>
    <p:sldId xmlns:r="http://schemas.openxmlformats.org/officeDocument/2006/relationships" id="306" r:id="Rc39b909ed06e4815"/>
    <p:sldId xmlns:r="http://schemas.openxmlformats.org/officeDocument/2006/relationships" id="307" r:id="R71e107f1aa7748a2"/>
    <p:sldId xmlns:r="http://schemas.openxmlformats.org/officeDocument/2006/relationships" id="308" r:id="R7e26dd3c68674f8f"/>
    <p:sldId xmlns:r="http://schemas.openxmlformats.org/officeDocument/2006/relationships" id="309" r:id="R70d6484d704e4bb4"/>
    <p:sldId xmlns:r="http://schemas.openxmlformats.org/officeDocument/2006/relationships" id="310" r:id="R67c47aebea66407f"/>
    <p:sldId xmlns:r="http://schemas.openxmlformats.org/officeDocument/2006/relationships" id="311" r:id="R93a6f482ae114a6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e306fa6857443a" /><Relationship Type="http://schemas.openxmlformats.org/officeDocument/2006/relationships/slideMaster" Target="/ppt/slideMasters/slideMaster1.xml" Id="Re3d6f99a9eb94d60" /><Relationship Type="http://schemas.openxmlformats.org/officeDocument/2006/relationships/notesMaster" Target="/ppt/notesMasters/notesMaster1.xml" Id="Raeeba8122c5c4d7f" /><Relationship Type="http://schemas.openxmlformats.org/officeDocument/2006/relationships/presProps" Target="/ppt/presProps.xml" Id="Re136459f4b4040c0" /><Relationship Type="http://schemas.openxmlformats.org/officeDocument/2006/relationships/tableStyles" Target="/ppt/tableStyles.xml" Id="R5da2101b4b914064" /><Relationship Type="http://schemas.openxmlformats.org/officeDocument/2006/relationships/slide" Target="/ppt/slides/slide1.xml" Id="R6b9003b1d49e4c75" /><Relationship Type="http://schemas.openxmlformats.org/officeDocument/2006/relationships/slide" Target="/ppt/slides/slide2.xml" Id="Rd89c944f801848fc" /><Relationship Type="http://schemas.openxmlformats.org/officeDocument/2006/relationships/slide" Target="/ppt/slides/slide3.xml" Id="R77d2dbb487034bfd" /><Relationship Type="http://schemas.openxmlformats.org/officeDocument/2006/relationships/slide" Target="/ppt/slides/slide4.xml" Id="R89ff309e0bbe4869" /><Relationship Type="http://schemas.openxmlformats.org/officeDocument/2006/relationships/slide" Target="/ppt/slides/slide5.xml" Id="R0582b92fe0c64b0d" /><Relationship Type="http://schemas.openxmlformats.org/officeDocument/2006/relationships/slide" Target="/ppt/slides/slide6.xml" Id="R3fe76df4d2f1437f" /><Relationship Type="http://schemas.openxmlformats.org/officeDocument/2006/relationships/slide" Target="/ppt/slides/slide7.xml" Id="R21237a8cae274d27" /><Relationship Type="http://schemas.openxmlformats.org/officeDocument/2006/relationships/slide" Target="/ppt/slides/slide8.xml" Id="Rfa7cf954a7554ef6" /><Relationship Type="http://schemas.openxmlformats.org/officeDocument/2006/relationships/slide" Target="/ppt/slides/slide9.xml" Id="Rc18b83a5f5814db0" /><Relationship Type="http://schemas.openxmlformats.org/officeDocument/2006/relationships/slide" Target="/ppt/slides/slide10.xml" Id="R1c8ba36b8cec489b" /><Relationship Type="http://schemas.openxmlformats.org/officeDocument/2006/relationships/slide" Target="/ppt/slides/slide11.xml" Id="Red25eca75b604e1e" /><Relationship Type="http://schemas.openxmlformats.org/officeDocument/2006/relationships/slide" Target="/ppt/slides/slide12.xml" Id="R25ac1f413e644189" /><Relationship Type="http://schemas.openxmlformats.org/officeDocument/2006/relationships/slide" Target="/ppt/slides/slide13.xml" Id="R1b882dc78e1348b5" /><Relationship Type="http://schemas.openxmlformats.org/officeDocument/2006/relationships/slide" Target="/ppt/slides/slide14.xml" Id="Rd99b1e9f4a26431b" /><Relationship Type="http://schemas.openxmlformats.org/officeDocument/2006/relationships/slide" Target="/ppt/slides/slide15.xml" Id="R3a2823fcd2a74528" /><Relationship Type="http://schemas.openxmlformats.org/officeDocument/2006/relationships/slide" Target="/ppt/slides/slide16.xml" Id="R0d41d61862964331" /><Relationship Type="http://schemas.openxmlformats.org/officeDocument/2006/relationships/slide" Target="/ppt/slides/slide17.xml" Id="R9a37330a7b79454a" /><Relationship Type="http://schemas.openxmlformats.org/officeDocument/2006/relationships/slide" Target="/ppt/slides/slide18.xml" Id="R4de33dc15e154d51" /><Relationship Type="http://schemas.openxmlformats.org/officeDocument/2006/relationships/slide" Target="/ppt/slides/slide19.xml" Id="R3754f950bd774644" /><Relationship Type="http://schemas.openxmlformats.org/officeDocument/2006/relationships/slide" Target="/ppt/slides/slide20.xml" Id="R2db2b73a2a8842d4" /><Relationship Type="http://schemas.openxmlformats.org/officeDocument/2006/relationships/slide" Target="/ppt/slides/slide21.xml" Id="Rf77882dc36974d78" /><Relationship Type="http://schemas.openxmlformats.org/officeDocument/2006/relationships/slide" Target="/ppt/slides/slide22.xml" Id="Re2328427acd147d0" /><Relationship Type="http://schemas.openxmlformats.org/officeDocument/2006/relationships/slide" Target="/ppt/slides/slide23.xml" Id="R8b0dc0ad44904140" /><Relationship Type="http://schemas.openxmlformats.org/officeDocument/2006/relationships/slide" Target="/ppt/slides/slide24.xml" Id="R21fe9f31c5a54ed9" /><Relationship Type="http://schemas.openxmlformats.org/officeDocument/2006/relationships/slide" Target="/ppt/slides/slide25.xml" Id="Rf5dcca9d407a4cc5" /><Relationship Type="http://schemas.openxmlformats.org/officeDocument/2006/relationships/slide" Target="/ppt/slides/slide26.xml" Id="R9e5c03e1504a4d04" /><Relationship Type="http://schemas.openxmlformats.org/officeDocument/2006/relationships/slide" Target="/ppt/slides/slide27.xml" Id="Rf01c4368d06046f4" /><Relationship Type="http://schemas.openxmlformats.org/officeDocument/2006/relationships/slide" Target="/ppt/slides/slide28.xml" Id="R447f49a1ffab4e9c" /><Relationship Type="http://schemas.openxmlformats.org/officeDocument/2006/relationships/slide" Target="/ppt/slides/slide29.xml" Id="Re8978e858bec44f0" /><Relationship Type="http://schemas.openxmlformats.org/officeDocument/2006/relationships/slide" Target="/ppt/slides/slide30.xml" Id="R5fdafe7cb7914c52" /><Relationship Type="http://schemas.openxmlformats.org/officeDocument/2006/relationships/slide" Target="/ppt/slides/slide31.xml" Id="R2d8267bb239f4db3" /><Relationship Type="http://schemas.openxmlformats.org/officeDocument/2006/relationships/slide" Target="/ppt/slides/slide32.xml" Id="R363bf7611b7e4145" /><Relationship Type="http://schemas.openxmlformats.org/officeDocument/2006/relationships/slide" Target="/ppt/slides/slide33.xml" Id="R0bcb70365e3b4748" /><Relationship Type="http://schemas.openxmlformats.org/officeDocument/2006/relationships/slide" Target="/ppt/slides/slide34.xml" Id="R030a4a25187149b6" /><Relationship Type="http://schemas.openxmlformats.org/officeDocument/2006/relationships/slide" Target="/ppt/slides/slide35.xml" Id="Rfe3ad22f67a1468a" /><Relationship Type="http://schemas.openxmlformats.org/officeDocument/2006/relationships/slide" Target="/ppt/slides/slide36.xml" Id="R78c159439fd84d80" /><Relationship Type="http://schemas.openxmlformats.org/officeDocument/2006/relationships/slide" Target="/ppt/slides/slide37.xml" Id="R3a66dbaf01c44318" /><Relationship Type="http://schemas.openxmlformats.org/officeDocument/2006/relationships/slide" Target="/ppt/slides/slide38.xml" Id="R83bfc0723c0348ff" /><Relationship Type="http://schemas.openxmlformats.org/officeDocument/2006/relationships/slide" Target="/ppt/slides/slide39.xml" Id="Ra94c23e6e9d14ec5" /><Relationship Type="http://schemas.openxmlformats.org/officeDocument/2006/relationships/slide" Target="/ppt/slides/slide40.xml" Id="R64553ccea0b947b6" /><Relationship Type="http://schemas.openxmlformats.org/officeDocument/2006/relationships/slide" Target="/ppt/slides/slide41.xml" Id="R7b9e96e8c73c463a" /><Relationship Type="http://schemas.openxmlformats.org/officeDocument/2006/relationships/slide" Target="/ppt/slides/slide42.xml" Id="Ree4e2a3844914810" /><Relationship Type="http://schemas.openxmlformats.org/officeDocument/2006/relationships/slide" Target="/ppt/slides/slide43.xml" Id="R85cbce34d17247d7" /><Relationship Type="http://schemas.openxmlformats.org/officeDocument/2006/relationships/slide" Target="/ppt/slides/slide44.xml" Id="Rd6e5e295ce7146c4" /><Relationship Type="http://schemas.openxmlformats.org/officeDocument/2006/relationships/slide" Target="/ppt/slides/slide45.xml" Id="Re4ad107fc13541de" /><Relationship Type="http://schemas.openxmlformats.org/officeDocument/2006/relationships/slide" Target="/ppt/slides/slide46.xml" Id="R794df90a07b74e1d" /><Relationship Type="http://schemas.openxmlformats.org/officeDocument/2006/relationships/slide" Target="/ppt/slides/slide47.xml" Id="Rc0ab11f5abed4200" /><Relationship Type="http://schemas.openxmlformats.org/officeDocument/2006/relationships/slide" Target="/ppt/slides/slide48.xml" Id="R1ad82b80c47c4580" /><Relationship Type="http://schemas.openxmlformats.org/officeDocument/2006/relationships/slide" Target="/ppt/slides/slide49.xml" Id="Rb676dae36672468c" /><Relationship Type="http://schemas.openxmlformats.org/officeDocument/2006/relationships/slide" Target="/ppt/slides/slide50.xml" Id="R6e21928b6be84454" /><Relationship Type="http://schemas.openxmlformats.org/officeDocument/2006/relationships/slide" Target="/ppt/slides/slide51.xml" Id="Rc39b909ed06e4815" /><Relationship Type="http://schemas.openxmlformats.org/officeDocument/2006/relationships/slide" Target="/ppt/slides/slide52.xml" Id="R71e107f1aa7748a2" /><Relationship Type="http://schemas.openxmlformats.org/officeDocument/2006/relationships/slide" Target="/ppt/slides/slide53.xml" Id="R7e26dd3c68674f8f" /><Relationship Type="http://schemas.openxmlformats.org/officeDocument/2006/relationships/slide" Target="/ppt/slides/slide54.xml" Id="R70d6484d704e4bb4" /><Relationship Type="http://schemas.openxmlformats.org/officeDocument/2006/relationships/slide" Target="/ppt/slides/slide55.xml" Id="R67c47aebea66407f" /><Relationship Type="http://schemas.openxmlformats.org/officeDocument/2006/relationships/slide" Target="/ppt/slides/slide56.xml" Id="R93a6f482ae114a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6df7bab5ba4f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7ae116e7a04034" /><Relationship Type="http://schemas.openxmlformats.org/officeDocument/2006/relationships/notesMaster" Target="/ppt/notesMasters/notesMaster1.xml" Id="R249227f4839642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1cb524896b465b" /><Relationship Type="http://schemas.openxmlformats.org/officeDocument/2006/relationships/notesMaster" Target="/ppt/notesMasters/notesMaster1.xml" Id="Ref65df4b137144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b20f7f85ba452c" /><Relationship Type="http://schemas.openxmlformats.org/officeDocument/2006/relationships/notesMaster" Target="/ppt/notesMasters/notesMaster1.xml" Id="Rf877b4c6656b42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f4a196a0ab43ed" /><Relationship Type="http://schemas.openxmlformats.org/officeDocument/2006/relationships/notesMaster" Target="/ppt/notesMasters/notesMaster1.xml" Id="R49b608cca5c246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2868b854a74893" /><Relationship Type="http://schemas.openxmlformats.org/officeDocument/2006/relationships/notesMaster" Target="/ppt/notesMasters/notesMaster1.xml" Id="R5ef7ad8ccdf046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1001eecff4414e" /><Relationship Type="http://schemas.openxmlformats.org/officeDocument/2006/relationships/notesMaster" Target="/ppt/notesMasters/notesMaster1.xml" Id="Rc06209c26f034f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eb51743bae4aeb" /><Relationship Type="http://schemas.openxmlformats.org/officeDocument/2006/relationships/notesMaster" Target="/ppt/notesMasters/notesMaster1.xml" Id="R2a62c6bfbaab42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a326244599448f" /><Relationship Type="http://schemas.openxmlformats.org/officeDocument/2006/relationships/notesMaster" Target="/ppt/notesMasters/notesMaster1.xml" Id="Rd5739bc46b6d43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0ffb39cd40463a" /><Relationship Type="http://schemas.openxmlformats.org/officeDocument/2006/relationships/notesMaster" Target="/ppt/notesMasters/notesMaster1.xml" Id="R385cbaa3182f48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385e9f1bffd47c3" /><Relationship Type="http://schemas.openxmlformats.org/officeDocument/2006/relationships/notesMaster" Target="/ppt/notesMasters/notesMaster1.xml" Id="R7d5328a4b9d44cb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26dcf9ec8a04ead" /><Relationship Type="http://schemas.openxmlformats.org/officeDocument/2006/relationships/notesMaster" Target="/ppt/notesMasters/notesMaster1.xml" Id="Rcf128f21fbe541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1cc06cc2ff94f2c" /><Relationship Type="http://schemas.openxmlformats.org/officeDocument/2006/relationships/notesMaster" Target="/ppt/notesMasters/notesMaster1.xml" Id="Re627ed3e62594f3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ae4dbf71c5c48d3" /><Relationship Type="http://schemas.openxmlformats.org/officeDocument/2006/relationships/notesMaster" Target="/ppt/notesMasters/notesMaster1.xml" Id="R59c2da01976e479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0482e7cc7e9485d" /><Relationship Type="http://schemas.openxmlformats.org/officeDocument/2006/relationships/notesMaster" Target="/ppt/notesMasters/notesMaster1.xml" Id="R3a8c25564fbb412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7f1a1a5bf364cc2" /><Relationship Type="http://schemas.openxmlformats.org/officeDocument/2006/relationships/notesMaster" Target="/ppt/notesMasters/notesMaster1.xml" Id="Rded7b5aabc7d413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892a58ec44b46db" /><Relationship Type="http://schemas.openxmlformats.org/officeDocument/2006/relationships/notesMaster" Target="/ppt/notesMasters/notesMaster1.xml" Id="R7ea0f2921d76459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d61ce994ea74c47" /><Relationship Type="http://schemas.openxmlformats.org/officeDocument/2006/relationships/notesMaster" Target="/ppt/notesMasters/notesMaster1.xml" Id="Rcfd99f17b4e2415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7d5fdd8dd7e48d8" /><Relationship Type="http://schemas.openxmlformats.org/officeDocument/2006/relationships/notesMaster" Target="/ppt/notesMasters/notesMaster1.xml" Id="R895e7ec74c7945c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ba5e90a45be4983" /><Relationship Type="http://schemas.openxmlformats.org/officeDocument/2006/relationships/notesMaster" Target="/ppt/notesMasters/notesMaster1.xml" Id="R81f2de29443b42d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d00fd98589d4ac7" /><Relationship Type="http://schemas.openxmlformats.org/officeDocument/2006/relationships/notesMaster" Target="/ppt/notesMasters/notesMaster1.xml" Id="R6fb1fb7df496447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6a4ab7ef5aa411b" /><Relationship Type="http://schemas.openxmlformats.org/officeDocument/2006/relationships/notesMaster" Target="/ppt/notesMasters/notesMaster1.xml" Id="Rc7b5766615b147b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340f55b7b99486e" /><Relationship Type="http://schemas.openxmlformats.org/officeDocument/2006/relationships/notesMaster" Target="/ppt/notesMasters/notesMaster1.xml" Id="R09717aeba76f402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7c037980f0f4192" /><Relationship Type="http://schemas.openxmlformats.org/officeDocument/2006/relationships/notesMaster" Target="/ppt/notesMasters/notesMaster1.xml" Id="Rc6e6836900c4469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43732447ab040ba" /><Relationship Type="http://schemas.openxmlformats.org/officeDocument/2006/relationships/notesMaster" Target="/ppt/notesMasters/notesMaster1.xml" Id="Rba5858adfe9349b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984ee6b689041d7" /><Relationship Type="http://schemas.openxmlformats.org/officeDocument/2006/relationships/notesMaster" Target="/ppt/notesMasters/notesMaster1.xml" Id="Rdf21e1ac8db04b0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5699368853c4118" /><Relationship Type="http://schemas.openxmlformats.org/officeDocument/2006/relationships/notesMaster" Target="/ppt/notesMasters/notesMaster1.xml" Id="R515afb1acebe4d5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49b956760c04af9" /><Relationship Type="http://schemas.openxmlformats.org/officeDocument/2006/relationships/notesMaster" Target="/ppt/notesMasters/notesMaster1.xml" Id="Rf17f3b4289654d9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457c69b0c9a4e07" /><Relationship Type="http://schemas.openxmlformats.org/officeDocument/2006/relationships/notesMaster" Target="/ppt/notesMasters/notesMaster1.xml" Id="R163331e52b91446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a41b4e44fd94239" /><Relationship Type="http://schemas.openxmlformats.org/officeDocument/2006/relationships/notesMaster" Target="/ppt/notesMasters/notesMaster1.xml" Id="Rd94a4544e8e9487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af55d2744974c95" /><Relationship Type="http://schemas.openxmlformats.org/officeDocument/2006/relationships/notesMaster" Target="/ppt/notesMasters/notesMaster1.xml" Id="R83b4275fe2114b4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941c9c9d38c4b7b" /><Relationship Type="http://schemas.openxmlformats.org/officeDocument/2006/relationships/notesMaster" Target="/ppt/notesMasters/notesMaster1.xml" Id="R3cfc1de4b03b4db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cb5864ebb9d4d95" /><Relationship Type="http://schemas.openxmlformats.org/officeDocument/2006/relationships/notesMaster" Target="/ppt/notesMasters/notesMaster1.xml" Id="Rf5af22e5cfef4e5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238702f78ab4729" /><Relationship Type="http://schemas.openxmlformats.org/officeDocument/2006/relationships/notesMaster" Target="/ppt/notesMasters/notesMaster1.xml" Id="R994431c363ba431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ee6a1818be3469d" /><Relationship Type="http://schemas.openxmlformats.org/officeDocument/2006/relationships/notesMaster" Target="/ppt/notesMasters/notesMaster1.xml" Id="R35a70f1322cc490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5cd445161e549d0" /><Relationship Type="http://schemas.openxmlformats.org/officeDocument/2006/relationships/notesMaster" Target="/ppt/notesMasters/notesMaster1.xml" Id="R34981bbc148349c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0857971e3aa416e" /><Relationship Type="http://schemas.openxmlformats.org/officeDocument/2006/relationships/notesMaster" Target="/ppt/notesMasters/notesMaster1.xml" Id="R901994ffcbd4442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fcc46897b9f4b8c" /><Relationship Type="http://schemas.openxmlformats.org/officeDocument/2006/relationships/notesMaster" Target="/ppt/notesMasters/notesMaster1.xml" Id="Raf853440991648b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f5259659da94242" /><Relationship Type="http://schemas.openxmlformats.org/officeDocument/2006/relationships/notesMaster" Target="/ppt/notesMasters/notesMaster1.xml" Id="R2543628585524ed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a205c57992247d7" /><Relationship Type="http://schemas.openxmlformats.org/officeDocument/2006/relationships/notesMaster" Target="/ppt/notesMasters/notesMaster1.xml" Id="R9d83796c96a84e6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7201ec409b644c9" /><Relationship Type="http://schemas.openxmlformats.org/officeDocument/2006/relationships/notesMaster" Target="/ppt/notesMasters/notesMaster1.xml" Id="Re8fc322bf9274bd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7a758d7b93c143dc" /><Relationship Type="http://schemas.openxmlformats.org/officeDocument/2006/relationships/notesMaster" Target="/ppt/notesMasters/notesMaster1.xml" Id="R5d73bbb25dde4fae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60a1ed3d702549d3" /><Relationship Type="http://schemas.openxmlformats.org/officeDocument/2006/relationships/notesMaster" Target="/ppt/notesMasters/notesMaster1.xml" Id="R868238e97ab64ec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d54676555baf4568" /><Relationship Type="http://schemas.openxmlformats.org/officeDocument/2006/relationships/notesMaster" Target="/ppt/notesMasters/notesMaster1.xml" Id="Ra88790a1677e4991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94059a3ea30a4742" /><Relationship Type="http://schemas.openxmlformats.org/officeDocument/2006/relationships/notesMaster" Target="/ppt/notesMasters/notesMaster1.xml" Id="R467cf59e97794038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7469a3b8d3064652" /><Relationship Type="http://schemas.openxmlformats.org/officeDocument/2006/relationships/notesMaster" Target="/ppt/notesMasters/notesMaster1.xml" Id="R6f9ecdfaf1474897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131305c986ef4ec9" /><Relationship Type="http://schemas.openxmlformats.org/officeDocument/2006/relationships/notesMaster" Target="/ppt/notesMasters/notesMaster1.xml" Id="Rcc53d828a45e462a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be435fa7ecda4740" /><Relationship Type="http://schemas.openxmlformats.org/officeDocument/2006/relationships/notesMaster" Target="/ppt/notesMasters/notesMaster1.xml" Id="R0fee985f9ecd4aab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748942e9b64842c5" /><Relationship Type="http://schemas.openxmlformats.org/officeDocument/2006/relationships/notesMaster" Target="/ppt/notesMasters/notesMaster1.xml" Id="Rc66195398e874db2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fcc0987751d6468f" /><Relationship Type="http://schemas.openxmlformats.org/officeDocument/2006/relationships/notesMaster" Target="/ppt/notesMasters/notesMaster1.xml" Id="R650efe3dc1554355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23ba329f554d4173" /><Relationship Type="http://schemas.openxmlformats.org/officeDocument/2006/relationships/notesMaster" Target="/ppt/notesMasters/notesMaster1.xml" Id="R884e8683da6d448a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af7bb31e09224a0c" /><Relationship Type="http://schemas.openxmlformats.org/officeDocument/2006/relationships/notesMaster" Target="/ppt/notesMasters/notesMaster1.xml" Id="R32cd6ba1f38a4a1a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6607ba5a473f4a55" /><Relationship Type="http://schemas.openxmlformats.org/officeDocument/2006/relationships/notesMaster" Target="/ppt/notesMasters/notesMaster1.xml" Id="Rf21e66c674dd4a64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5069840689cf476d" /><Relationship Type="http://schemas.openxmlformats.org/officeDocument/2006/relationships/notesMaster" Target="/ppt/notesMasters/notesMaster1.xml" Id="Red54073f59ec4242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d0cabe104bf44b0b" /><Relationship Type="http://schemas.openxmlformats.org/officeDocument/2006/relationships/notesMaster" Target="/ppt/notesMasters/notesMaster1.xml" Id="Rf4f4c126e2bc48a5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38967032cdcc41d9" /><Relationship Type="http://schemas.openxmlformats.org/officeDocument/2006/relationships/notesMaster" Target="/ppt/notesMasters/notesMaster1.xml" Id="R80bca4ab61c44dbd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35667aa3f3604ff4" /><Relationship Type="http://schemas.openxmlformats.org/officeDocument/2006/relationships/notesMaster" Target="/ppt/notesMasters/notesMaster1.xml" Id="Rba5af9e6719442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111bf05d4543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c4ff4ff6094177" /><Relationship Type="http://schemas.openxmlformats.org/officeDocument/2006/relationships/slideLayout" Target="/ppt/slideLayouts/slideLayout1.xml" Id="Rb877b3711ddb42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77b3711ddb42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03f4feb0d4575" /><Relationship Type="http://schemas.openxmlformats.org/officeDocument/2006/relationships/image" Target="/ppt/media/image.png" Id="R645fe3ee69ac4389" /><Relationship Type="http://schemas.openxmlformats.org/officeDocument/2006/relationships/image" Target="/ppt/media/image.svg" Id="R26392623225b40f5" /><Relationship Type="http://schemas.openxmlformats.org/officeDocument/2006/relationships/notesSlide" Target="/ppt/notesSlides/notesSlide1.xml" Id="Rc3a07631a32746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156efd7e34c19" /><Relationship Type="http://schemas.openxmlformats.org/officeDocument/2006/relationships/notesSlide" Target="/ppt/notesSlides/notesSlide2.xml" Id="Rf58c711d821d42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ae4127f924be7" /><Relationship Type="http://schemas.openxmlformats.org/officeDocument/2006/relationships/image" Target="/ppt/media/image2.png" Id="R1af3b09d3b834bf8" /><Relationship Type="http://schemas.openxmlformats.org/officeDocument/2006/relationships/image" Target="/ppt/media/image2.svg" Id="Rf117fb0707d54b83" /><Relationship Type="http://schemas.openxmlformats.org/officeDocument/2006/relationships/notesSlide" Target="/ppt/notesSlides/notesSlide3.xml" Id="R5bf2b79f77a94c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30b38a8054305" /><Relationship Type="http://schemas.openxmlformats.org/officeDocument/2006/relationships/image" Target="/ppt/media/image3.png" Id="R9900f30e2c1d470a" /><Relationship Type="http://schemas.openxmlformats.org/officeDocument/2006/relationships/image" Target="/ppt/media/image3.svg" Id="R4213057e83ab4c29" /><Relationship Type="http://schemas.openxmlformats.org/officeDocument/2006/relationships/notesSlide" Target="/ppt/notesSlides/notesSlide4.xml" Id="R38640432fb9b49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e595f1f33475c" /><Relationship Type="http://schemas.openxmlformats.org/officeDocument/2006/relationships/image" Target="/ppt/media/image4.png" Id="Rb0aa72983eda4bd5" /><Relationship Type="http://schemas.openxmlformats.org/officeDocument/2006/relationships/image" Target="/ppt/media/image4.svg" Id="R9a43545932c647c8" /><Relationship Type="http://schemas.openxmlformats.org/officeDocument/2006/relationships/notesSlide" Target="/ppt/notesSlides/notesSlide5.xml" Id="Re5bff468ab5547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e60be1eaa42c9" /><Relationship Type="http://schemas.openxmlformats.org/officeDocument/2006/relationships/notesSlide" Target="/ppt/notesSlides/notesSlide6.xml" Id="R95ec277c84e147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a6d393eb442f8" /><Relationship Type="http://schemas.openxmlformats.org/officeDocument/2006/relationships/image" Target="/ppt/media/image5.png" Id="R91e22f0ad16744cc" /><Relationship Type="http://schemas.openxmlformats.org/officeDocument/2006/relationships/image" Target="/ppt/media/image5.svg" Id="R130921f211844a51" /><Relationship Type="http://schemas.openxmlformats.org/officeDocument/2006/relationships/notesSlide" Target="/ppt/notesSlides/notesSlide7.xml" Id="Rf00181a9789743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76b03b78d4221" /><Relationship Type="http://schemas.openxmlformats.org/officeDocument/2006/relationships/image" Target="/ppt/media/image6.png" Id="R1e60cba5f4e14273" /><Relationship Type="http://schemas.openxmlformats.org/officeDocument/2006/relationships/image" Target="/ppt/media/image6.svg" Id="Rad77c9019a204e6d" /><Relationship Type="http://schemas.openxmlformats.org/officeDocument/2006/relationships/notesSlide" Target="/ppt/notesSlides/notesSlide8.xml" Id="R621903d6355948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c2ff916d24cbe" /><Relationship Type="http://schemas.openxmlformats.org/officeDocument/2006/relationships/image" Target="/ppt/media/image7.png" Id="R5d46ebc0528d4f3e" /><Relationship Type="http://schemas.openxmlformats.org/officeDocument/2006/relationships/image" Target="/ppt/media/image7.svg" Id="Radd15d26d0ca46f6" /><Relationship Type="http://schemas.openxmlformats.org/officeDocument/2006/relationships/notesSlide" Target="/ppt/notesSlides/notesSlide9.xml" Id="R955d21ce0d524b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ca20e131e4284" /><Relationship Type="http://schemas.openxmlformats.org/officeDocument/2006/relationships/image" Target="/ppt/media/image8.png" Id="Ra4bc72eb1add4a59" /><Relationship Type="http://schemas.openxmlformats.org/officeDocument/2006/relationships/image" Target="/ppt/media/image8.svg" Id="Re50dc209989d42cf" /><Relationship Type="http://schemas.openxmlformats.org/officeDocument/2006/relationships/notesSlide" Target="/ppt/notesSlides/notesSlide10.xml" Id="Rc19c235cbfe3418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2730c46744248" /><Relationship Type="http://schemas.openxmlformats.org/officeDocument/2006/relationships/notesSlide" Target="/ppt/notesSlides/notesSlide11.xml" Id="R2720ed48f5ef4a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a32186921403d" /><Relationship Type="http://schemas.openxmlformats.org/officeDocument/2006/relationships/notesSlide" Target="/ppt/notesSlides/notesSlide12.xml" Id="Rdd1f6f743fe74b7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ee446b8d84686" /><Relationship Type="http://schemas.openxmlformats.org/officeDocument/2006/relationships/notesSlide" Target="/ppt/notesSlides/notesSlide13.xml" Id="Rbd8fb5cc30b4476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5b92108b5488d" /><Relationship Type="http://schemas.openxmlformats.org/officeDocument/2006/relationships/image" Target="/ppt/media/image9.png" Id="Re17e2bf299dc4a58" /><Relationship Type="http://schemas.openxmlformats.org/officeDocument/2006/relationships/image" Target="/ppt/media/image9.svg" Id="Rbc95221870274187" /><Relationship Type="http://schemas.openxmlformats.org/officeDocument/2006/relationships/notesSlide" Target="/ppt/notesSlides/notesSlide14.xml" Id="R1eac9fecf0a44e6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0469112a0497c" /><Relationship Type="http://schemas.openxmlformats.org/officeDocument/2006/relationships/notesSlide" Target="/ppt/notesSlides/notesSlide15.xml" Id="R2a4d65ee1a0448f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ba55b516e4834" /><Relationship Type="http://schemas.openxmlformats.org/officeDocument/2006/relationships/notesSlide" Target="/ppt/notesSlides/notesSlide16.xml" Id="R6c281e5d91464d5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523a2d001455c" /><Relationship Type="http://schemas.openxmlformats.org/officeDocument/2006/relationships/image" Target="/ppt/media/image10.png" Id="R81669c038b764772" /><Relationship Type="http://schemas.openxmlformats.org/officeDocument/2006/relationships/image" Target="/ppt/media/image10.svg" Id="R3d61f95a59884045" /><Relationship Type="http://schemas.openxmlformats.org/officeDocument/2006/relationships/notesSlide" Target="/ppt/notesSlides/notesSlide17.xml" Id="R9276bcdc68aa44e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15f75d4234aec" /><Relationship Type="http://schemas.openxmlformats.org/officeDocument/2006/relationships/image" Target="/ppt/media/image11.png" Id="Rd1a90c4e1cf64d35" /><Relationship Type="http://schemas.openxmlformats.org/officeDocument/2006/relationships/image" Target="/ppt/media/image11.svg" Id="Raafdb29e95b04f67" /><Relationship Type="http://schemas.openxmlformats.org/officeDocument/2006/relationships/notesSlide" Target="/ppt/notesSlides/notesSlide18.xml" Id="R672e67d4535e405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a1a8853dc4f80" /><Relationship Type="http://schemas.openxmlformats.org/officeDocument/2006/relationships/image" Target="/ppt/media/image12.png" Id="R0054f4091a6f4981" /><Relationship Type="http://schemas.openxmlformats.org/officeDocument/2006/relationships/image" Target="/ppt/media/image12.svg" Id="R27540ccdebdc4e34" /><Relationship Type="http://schemas.openxmlformats.org/officeDocument/2006/relationships/notesSlide" Target="/ppt/notesSlides/notesSlide19.xml" Id="R5f892f18c4cb4f6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e274e3b474d14" /><Relationship Type="http://schemas.openxmlformats.org/officeDocument/2006/relationships/image" Target="/ppt/media/image13.png" Id="R382f619fc35b4a9d" /><Relationship Type="http://schemas.openxmlformats.org/officeDocument/2006/relationships/image" Target="/ppt/media/image13.svg" Id="R62bcaa9cb45b4ccd" /><Relationship Type="http://schemas.openxmlformats.org/officeDocument/2006/relationships/notesSlide" Target="/ppt/notesSlides/notesSlide20.xml" Id="R5fd4305c23f0408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f49c75eae49c7" /><Relationship Type="http://schemas.openxmlformats.org/officeDocument/2006/relationships/image" Target="/ppt/media/image14.png" Id="R8213aadefcfb4ae9" /><Relationship Type="http://schemas.openxmlformats.org/officeDocument/2006/relationships/image" Target="/ppt/media/image14.svg" Id="R94d11aa0f6fb431a" /><Relationship Type="http://schemas.openxmlformats.org/officeDocument/2006/relationships/notesSlide" Target="/ppt/notesSlides/notesSlide21.xml" Id="Rb9ef16c5d110418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76e229ae44167" /><Relationship Type="http://schemas.openxmlformats.org/officeDocument/2006/relationships/image" Target="/ppt/media/image15.png" Id="Rdd6bb8948cba4c7d" /><Relationship Type="http://schemas.openxmlformats.org/officeDocument/2006/relationships/image" Target="/ppt/media/image15.svg" Id="R01bb581cedb14ee1" /><Relationship Type="http://schemas.openxmlformats.org/officeDocument/2006/relationships/notesSlide" Target="/ppt/notesSlides/notesSlide22.xml" Id="R127f79cfd8ce4d7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2c17b16db4c23" /><Relationship Type="http://schemas.openxmlformats.org/officeDocument/2006/relationships/notesSlide" Target="/ppt/notesSlides/notesSlide23.xml" Id="R07dd992e605e459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9fcf6b0e1465b" /><Relationship Type="http://schemas.openxmlformats.org/officeDocument/2006/relationships/image" Target="/ppt/media/image16.png" Id="R38bc36295a9a4af4" /><Relationship Type="http://schemas.openxmlformats.org/officeDocument/2006/relationships/image" Target="/ppt/media/image16.svg" Id="R039952fbbb334c8f" /><Relationship Type="http://schemas.openxmlformats.org/officeDocument/2006/relationships/notesSlide" Target="/ppt/notesSlides/notesSlide24.xml" Id="Rde02d7a19fa2493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443ffd2734813" /><Relationship Type="http://schemas.openxmlformats.org/officeDocument/2006/relationships/notesSlide" Target="/ppt/notesSlides/notesSlide25.xml" Id="R09c9aec60628412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47b17bdda41a1" /><Relationship Type="http://schemas.openxmlformats.org/officeDocument/2006/relationships/image" Target="/ppt/media/image17.png" Id="R77b2ac0d46dc4094" /><Relationship Type="http://schemas.openxmlformats.org/officeDocument/2006/relationships/image" Target="/ppt/media/image17.svg" Id="R12e71d37008248ab" /><Relationship Type="http://schemas.openxmlformats.org/officeDocument/2006/relationships/notesSlide" Target="/ppt/notesSlides/notesSlide26.xml" Id="Re780e267f65a438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30b75aa044b76" /><Relationship Type="http://schemas.openxmlformats.org/officeDocument/2006/relationships/image" Target="/ppt/media/image18.png" Id="R86f671e45d654ab1" /><Relationship Type="http://schemas.openxmlformats.org/officeDocument/2006/relationships/image" Target="/ppt/media/image18.svg" Id="Rf3b2e135186d45c0" /><Relationship Type="http://schemas.openxmlformats.org/officeDocument/2006/relationships/notesSlide" Target="/ppt/notesSlides/notesSlide27.xml" Id="R720f2b53378b4cd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8232ad1bf479f" /><Relationship Type="http://schemas.openxmlformats.org/officeDocument/2006/relationships/notesSlide" Target="/ppt/notesSlides/notesSlide28.xml" Id="R5599a284e0e745c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2d0a6ca24142df" /><Relationship Type="http://schemas.openxmlformats.org/officeDocument/2006/relationships/notesSlide" Target="/ppt/notesSlides/notesSlide29.xml" Id="Re93ed65a062b41f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d4aedfb404689" /><Relationship Type="http://schemas.openxmlformats.org/officeDocument/2006/relationships/notesSlide" Target="/ppt/notesSlides/notesSlide30.xml" Id="Rd9181a041db44e7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7c62f2eed45cc" /><Relationship Type="http://schemas.openxmlformats.org/officeDocument/2006/relationships/notesSlide" Target="/ppt/notesSlides/notesSlide31.xml" Id="R55284891d27c461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c0496ea9e4f97" /><Relationship Type="http://schemas.openxmlformats.org/officeDocument/2006/relationships/notesSlide" Target="/ppt/notesSlides/notesSlide32.xml" Id="Rbcd7f25d979e4b0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6a14ea75f46b3" /><Relationship Type="http://schemas.openxmlformats.org/officeDocument/2006/relationships/notesSlide" Target="/ppt/notesSlides/notesSlide33.xml" Id="R55029418ec7748c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18dc120df4689" /><Relationship Type="http://schemas.openxmlformats.org/officeDocument/2006/relationships/notesSlide" Target="/ppt/notesSlides/notesSlide34.xml" Id="Reb8e34920ee94cc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ea53e5d8048d0" /><Relationship Type="http://schemas.openxmlformats.org/officeDocument/2006/relationships/notesSlide" Target="/ppt/notesSlides/notesSlide35.xml" Id="Re1dd6af7fd8b437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6dcd15deb4358" /><Relationship Type="http://schemas.openxmlformats.org/officeDocument/2006/relationships/notesSlide" Target="/ppt/notesSlides/notesSlide36.xml" Id="R77b4c668cc2f4b2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be8008b61b4575" /><Relationship Type="http://schemas.openxmlformats.org/officeDocument/2006/relationships/notesSlide" Target="/ppt/notesSlides/notesSlide37.xml" Id="Rd048841e14774c1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9fe59c5174905" /><Relationship Type="http://schemas.openxmlformats.org/officeDocument/2006/relationships/notesSlide" Target="/ppt/notesSlides/notesSlide38.xml" Id="R0828ad095011444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25a7cd6374602" /><Relationship Type="http://schemas.openxmlformats.org/officeDocument/2006/relationships/image" Target="/ppt/media/image19.png" Id="Rac8f975b0377487a" /><Relationship Type="http://schemas.openxmlformats.org/officeDocument/2006/relationships/image" Target="/ppt/media/image19.svg" Id="R796d94d5da6e4baa" /><Relationship Type="http://schemas.openxmlformats.org/officeDocument/2006/relationships/notesSlide" Target="/ppt/notesSlides/notesSlide39.xml" Id="R9c60ac00366c4b5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4582f578a4625" /><Relationship Type="http://schemas.openxmlformats.org/officeDocument/2006/relationships/notesSlide" Target="/ppt/notesSlides/notesSlide40.xml" Id="Rab045f2840884c7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a1a3168554050" /><Relationship Type="http://schemas.openxmlformats.org/officeDocument/2006/relationships/notesSlide" Target="/ppt/notesSlides/notesSlide41.xml" Id="R63299c518fb448e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9a79b38d04f0d" /><Relationship Type="http://schemas.openxmlformats.org/officeDocument/2006/relationships/notesSlide" Target="/ppt/notesSlides/notesSlide42.xml" Id="R1b75f4c448124987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7b0cd692746af" /><Relationship Type="http://schemas.openxmlformats.org/officeDocument/2006/relationships/notesSlide" Target="/ppt/notesSlides/notesSlide43.xml" Id="R4e170937a8224dba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77140c7b54ed3" /><Relationship Type="http://schemas.openxmlformats.org/officeDocument/2006/relationships/notesSlide" Target="/ppt/notesSlides/notesSlide44.xml" Id="Rd838e3bf4c554f28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79352ec9d430d" /><Relationship Type="http://schemas.openxmlformats.org/officeDocument/2006/relationships/notesSlide" Target="/ppt/notesSlides/notesSlide45.xml" Id="R13adc2169c4f46e4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e8bd952dc4cb3" /><Relationship Type="http://schemas.openxmlformats.org/officeDocument/2006/relationships/notesSlide" Target="/ppt/notesSlides/notesSlide46.xml" Id="Rf294ce48afd54721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d94c81b934cc3" /><Relationship Type="http://schemas.openxmlformats.org/officeDocument/2006/relationships/notesSlide" Target="/ppt/notesSlides/notesSlide47.xml" Id="Ra2c57f647d0e4458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a474ee9e1457f" /><Relationship Type="http://schemas.openxmlformats.org/officeDocument/2006/relationships/notesSlide" Target="/ppt/notesSlides/notesSlide48.xml" Id="R870b76ae7c0f4c76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d5da8f3ce4897" /><Relationship Type="http://schemas.openxmlformats.org/officeDocument/2006/relationships/notesSlide" Target="/ppt/notesSlides/notesSlide49.xml" Id="R3623eb3b803941a2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ffff06b6241d6" /><Relationship Type="http://schemas.openxmlformats.org/officeDocument/2006/relationships/image" Target="/ppt/media/image20.png" Id="R4393c743d0254bd4" /><Relationship Type="http://schemas.openxmlformats.org/officeDocument/2006/relationships/image" Target="/ppt/media/image20.svg" Id="R85e55e5d944a4e0d" /><Relationship Type="http://schemas.openxmlformats.org/officeDocument/2006/relationships/notesSlide" Target="/ppt/notesSlides/notesSlide50.xml" Id="Re5a2416408a34613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e05fdf4144beb" /><Relationship Type="http://schemas.openxmlformats.org/officeDocument/2006/relationships/image" Target="/ppt/media/image21.png" Id="Rb07709bcba5b45fa" /><Relationship Type="http://schemas.openxmlformats.org/officeDocument/2006/relationships/image" Target="/ppt/media/image21.svg" Id="R14c7e77ba41e415e" /><Relationship Type="http://schemas.openxmlformats.org/officeDocument/2006/relationships/notesSlide" Target="/ppt/notesSlides/notesSlide51.xml" Id="R47c44b81c4ca4d7b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3b95a83544e39" /><Relationship Type="http://schemas.openxmlformats.org/officeDocument/2006/relationships/notesSlide" Target="/ppt/notesSlides/notesSlide52.xml" Id="R171071581bc2433d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30628b07b4ba6" /><Relationship Type="http://schemas.openxmlformats.org/officeDocument/2006/relationships/notesSlide" Target="/ppt/notesSlides/notesSlide53.xml" Id="R015d694afaff4087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aacfb0d03c4dfa" /><Relationship Type="http://schemas.openxmlformats.org/officeDocument/2006/relationships/notesSlide" Target="/ppt/notesSlides/notesSlide54.xml" Id="Rcd0f75448f7a407c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980cfd1c32467d" /><Relationship Type="http://schemas.openxmlformats.org/officeDocument/2006/relationships/image" Target="/ppt/media/image22.png" Id="Rad2351134cb04980" /><Relationship Type="http://schemas.openxmlformats.org/officeDocument/2006/relationships/image" Target="/ppt/media/image22.svg" Id="Ref0f9e9c4c6e4bda" /><Relationship Type="http://schemas.openxmlformats.org/officeDocument/2006/relationships/notesSlide" Target="/ppt/notesSlides/notesSlide55.xml" Id="Rf63c0b8113514576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c0e8f5e4141c6" /><Relationship Type="http://schemas.openxmlformats.org/officeDocument/2006/relationships/notesSlide" Target="/ppt/notesSlides/notesSlide56.xml" Id="R9f604a6048984c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F03B74-DD3C-4B72-9BF9-F48245E3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E06813-C335-4B61-A0C0-74162717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9556D-3E0C-4578-83ED-ED2DBC39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56DAC-5F13-47AD-AE2A-52DA8B45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B730E-4BD3-4151-8925-E3746799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3A03BE-A4CA-49E1-8F7C-0B5EDD11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8F140D-28F9-46F7-A783-03338601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543F1-4FE6-42F8-9CAA-A0D1C1FD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BF65AE-2420-4B6D-95DE-B2FB54C0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C56E2F-6DBE-4666-8AC9-35A2C515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8053E7-755C-472A-BEA6-CE0952A2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E6973-6890-49E4-9276-53D54A8F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D4233-740E-4E99-B06C-99F9940D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18C636-56FB-46EF-9125-E6ACF05E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FCCB23-3787-4F73-B279-462EFB57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4AC97F-A85A-452A-B319-D88000F2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AA2DC9-8642-4C42-92A8-31230CE7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C2737A-0921-4095-92C9-CA0F88FE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D7708F-D13F-4F77-B312-7CF898C7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React Native | miapp2 | Practica guiada 40 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CF9A08-1013-4796-9868-C4A2738C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85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Modal &amp; Bottom Sheet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142DA7-FD78-4304-83AE-F5A7FA16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628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9FB2CC"/>
                </a:solidFill>
                <a:latin typeface="Aptos"/>
                <a:ea typeface="Aptos"/>
                <a:cs typeface="Aptos"/>
              </a:rPr>
              <a:t>Patrones de interfaz, state, props y una implementacion educativa lista para presentar.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D7D504-1929-48A8-B261-3ED32DBD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09537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DCDB3A-860F-4F5E-8B0A-87AC5B61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71925"/>
            <a:ext cx="828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40 MIN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19EF46-94CA-480F-9B2E-EFA73B1B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905250"/>
            <a:ext cx="1428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519560-733B-47DF-9C5B-802A312B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71925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PPTX + HTML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F8BEA4-CFE0-46A3-8316-C78F99C0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05250"/>
            <a:ext cx="1143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FE6A89-474C-4EF3-B00C-576E7CF2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97192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MIAPP2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5fe3ee69ac4389">
            <a:extLst>
              <a:ext uri="{96DAC541-7B7A-43D3-8B79-37D633B846F1}">
                <asvg:svgBlip xmlns:asvg="http://schemas.microsoft.com/office/drawing/2016/SVG/main" r:embed="R26392623225b40f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0" y="819150"/>
            <a:ext cx="4095750" cy="4476750"/>
          </a:xfrm>
          <a:prstGeom xmlns:a="http://schemas.openxmlformats.org/drawingml/2006/main" prst="roundRect">
            <a:avLst>
              <a:gd name="adj" fmla="val 3721"/>
            </a:avLst>
          </a:prstGeom>
        </p:spPr>
      </p:pic>
    </p:spTree>
    <p:extLst>
      <p:ext uri="{BB962C8B-B14F-4D97-AF65-F5344CB8AC3E}">
        <p14:creationId xmlns:p14="http://schemas.microsoft.com/office/powerpoint/2010/main" val="15988464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955692-81EA-4D32-A360-40775882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8D5FA7-83B1-46FE-995F-B605E70A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BB8366-4E91-41E4-8A45-A54551F1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56C0A-F68F-4DE9-9A11-14C04ED4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ACBF7A-F792-4008-B886-632D048C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9899A-75E7-40B2-9911-9EB5CE51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C51074-214B-4179-9D11-2EA161D5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7DC9B8-CABE-4D63-B702-81B87704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B2F1C7-8C55-4FB2-8CAF-8F16DC91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E809CB-AA59-4A9F-954B-F04FE420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637D26-2EF9-4705-897C-26BB4F5C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1FF2AD-A484-401F-9595-C1D9FC2D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A8AE14-8105-4465-B5D7-25E32DDD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EDBB21-2235-4E4B-8A9A-1047277C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848B2F-585E-446D-A003-E6C272A1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4E3ED0-9811-44B9-A1F6-7156147D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F3FA3E-0AAE-41F3-9D0E-0AF44C59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F30014-FCDE-4A0F-84E5-D9F8E181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4D0F06-13CC-403F-A865-B891C753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E2CFC8-2EF9-4AFD-A3D6-5A151857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Ruta de aprendizaje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EB458B-DD2D-4CF3-A31E-E39EC518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De concepto a implementacion: primero entendemos los patrones, luego los conectamos con state y cerramos con el guion de practica.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128E55-757E-4231-A1AE-71A725B9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300037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9ABDD9-4B4C-46DE-9FFD-12F053A4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F6C1E8-696C-4C56-B827-693987ED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76550"/>
            <a:ext cx="2543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1. Contexto de miapp2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E47372-4C8B-45DB-970B-30CC81E1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38500"/>
            <a:ext cx="2543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Bloque narrativo de la presentacion.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0325B2-C151-4E76-AE0F-60FDC9EA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86050"/>
            <a:ext cx="300037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FB7269-690A-419F-837C-29D16312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8605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16D1A4-9B05-49B2-9A82-9EB70A28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76550"/>
            <a:ext cx="2543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Modal nativo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85F4D1-8A6E-40E9-B05F-B531118B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38500"/>
            <a:ext cx="2543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Bloque narrativo de la presentacion.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083326-93ED-4868-BD9C-0AE94556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86050"/>
            <a:ext cx="300037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2BC65C-A2CE-4F61-8EE8-9ACFB941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8605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660A05-8154-45D9-86A1-E7B4584E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76550"/>
            <a:ext cx="2543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 Bottom Sheet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AD55E6-C349-4B4E-8C8C-436C7183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38500"/>
            <a:ext cx="2543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Bloque narrativo de la presentacion.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907919-5BFC-4CD5-AA13-5684026F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300037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E2F217-7B10-490D-98D5-C418AB4C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D71778-BA95-4933-9201-E68AC840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33850"/>
            <a:ext cx="2543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4. State y flujo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CE1B60-F2E5-41EB-A069-6E804093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95800"/>
            <a:ext cx="2543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Bloque narrativo de la presentacion.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5BB338-06C0-44CB-A416-8F456C4A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43350"/>
            <a:ext cx="300037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B9ECB2-7F54-4689-A08B-3289C4D9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4335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723BDC-D762-40D2-9389-1285F624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33850"/>
            <a:ext cx="2543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5. Practica de 40 min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4BDA45-0B85-4D32-8F67-0DC906F6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95800"/>
            <a:ext cx="2543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Bloque narrativo de la presentacion.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FBD782-721B-486F-9AA1-F2C5832F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43350"/>
            <a:ext cx="300037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8F0550-1907-426B-8E5B-5468D873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4335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17ACC9-7F2B-4AEB-A43F-BAD903E6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33850"/>
            <a:ext cx="2543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6. Reparto de 3 personas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D1292D-A60E-4AB6-AA26-BACA052A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95800"/>
            <a:ext cx="2543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Bloque narrativo de la presentacion.</a:t>
            </a:r>
          </a:p>
        </p:txBody>
      </p:sp>
    </p:spTree>
    <p:extLst>
      <p:ext uri="{BB962C8B-B14F-4D97-AF65-F5344CB8AC3E}">
        <p14:creationId xmlns:p14="http://schemas.microsoft.com/office/powerpoint/2010/main" val="11329685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605477-77B2-41D3-AEFB-063DF826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794D1-2DF2-48BF-8366-AD1E3257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9273BD-A420-4D62-948B-8AC8F639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7F191-7DCA-4919-A673-5BEC5F70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73FF3-1FB1-47E0-8E4C-58C24153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F3E52-88D9-4E51-941E-1CDE1A1C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3888F-E00A-4D96-9D36-44FF6313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CD9CD8-0D87-4A91-B9B4-3BA17FE0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A4F676-302C-448F-ACA3-571A2FCE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BEB4A1-7933-44EE-A2FB-E3636BBA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3EFF89-EC3A-4CEB-AB34-E3D85C6A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385A4B-9285-4DC7-954B-87537A61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6ED0EB-4FA8-4C88-98A0-2E3CB568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02886C-4D67-4142-91DA-F2D862A5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7946B2-F1CB-4F28-9BE1-7C00B8F8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ED8260-1083-4A60-9CA2-4CA27AA6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4CE1B4-D9C0-4816-AA7C-599E335D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9B199F-4709-44E8-AEBF-575761E9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A05AF1-797E-4FFE-8E44-D3874B5B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AAFA86-A038-48DB-A768-12668605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Contexto real del proyecto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9A0C37-1907-4FC1-94EC-799DFB27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`miapp2` usa Expo, React 19.1.0 y React Native 0.81.5. No tiene libreria de Bottom Sheet instalada.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7F92CE-184B-472A-82C7-F2A36424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1428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D2D0AE-C9A1-4B6D-B4F4-4BC37A91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67025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expo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4C290E-0308-4DBF-B3FF-DA124C2A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00350"/>
            <a:ext cx="1428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2D32BF-F097-4B71-B736-16EAB5A7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67025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react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8BCF21-33F5-4FE7-BF49-BBBCE022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00350"/>
            <a:ext cx="1428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5DB0B1-51A7-4CE9-8514-29A7E860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67025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react-native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8DDA6E-58F9-4D25-B4A2-B25D5DC5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428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FA0EDF-C7CD-4D6D-8870-0EAF99E2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67025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react-native-web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B53258-988A-472E-8C05-E497676E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6096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082D7E-FA99-48A0-A4FA-79C254CD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B22437-4B52-425B-85FE-32AFBB6B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0"/>
            <a:ext cx="563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de practica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CB8426-2852-4B89-8E9B-71E21313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563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Decision tecnica: usar Modal nativo y un Bottom Sheet educativo con Modal + Animated.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f3b09d3b834bf8">
            <a:extLst>
              <a:ext uri="{96DAC541-7B7A-43D3-8B79-37D633B846F1}">
                <asvg:svgBlip xmlns:asvg="http://schemas.microsoft.com/office/drawing/2016/SVG/main" r:embed="Rf117fb0707d54b8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0" y="2495550"/>
            <a:ext cx="314325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</p:spTree>
    <p:extLst>
      <p:ext uri="{BB962C8B-B14F-4D97-AF65-F5344CB8AC3E}">
        <p14:creationId xmlns:p14="http://schemas.microsoft.com/office/powerpoint/2010/main" val="8220977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54E429-CAA4-4979-BE11-A98CF74E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8A4C1-0C49-4B2E-9CD9-C443615C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CA4B1-D55C-40C3-8889-16E92393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DC9B3-97D9-4FD0-ABBC-719BDED3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A63E2-DB4D-4252-B421-8607FA45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4C176-D747-4A76-9E85-01921798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7F8F18-E537-45FF-B45C-C866F885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B3C9E-5CA2-4AF4-9287-6488AAF2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AEC07E-E398-4345-A8F5-37D3FE80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DE88ED-641E-4F62-8E84-296AFF22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204F50-3264-4AA3-8467-DDAF9485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53ECC6-35A7-4E4E-8723-1A60D3DB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A41CA-AECC-43F7-9985-4AFB01A6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310DE9-554F-4F6F-AA76-74A7EBA0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B4B8A9-B187-49ED-8545-1BBC7866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5CB0B1-FB74-42CA-8586-54BE0957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441772-3349-403B-82B5-D92E03E8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13E481-F8C4-4250-AA99-18C06658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180CAD-2CBC-4432-A4CB-7A50F39A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E3D33D-A2B7-4D68-9EB4-51FED975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Modal: una capa por encima de la pantalla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921738-029A-45C4-A0C2-4C3961EF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Un Modal presenta contenido encima de la vista actual para confirmar, advertir o enfocar una tarea corta.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00f30e2c1d470a">
            <a:extLst>
              <a:ext uri="{96DAC541-7B7A-43D3-8B79-37D633B846F1}">
                <asvg:svgBlip xmlns:asvg="http://schemas.microsoft.com/office/drawing/2016/SVG/main" r:embed="R4213057e83ab4c2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15250" y="1066800"/>
            <a:ext cx="3429000" cy="3143250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D9D11B-E568-48C4-AA87-8D1C0BB7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2952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8C97B4-DE10-4E51-BC43-6506C166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7C3CA9-06F9-4DF3-AC15-5170F8EC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Interrupcion alta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399EC9-E8CC-4303-AAC2-3FCD75E9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Idea clave para decidir el patron correcto.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EBC731-3D80-40A8-8D5A-DF4DD278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705100"/>
            <a:ext cx="2952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78F729-10DA-462B-B530-1407CE44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70510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E05011-2770-4DB3-85EE-5D90F8A1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9560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Ideal para decisiones importantes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545E99-8E7D-437E-9A4D-575B2D3D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57550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Aplicacion directa dentro de la practica.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534EB0-45CD-4F70-92A8-A86983E5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2952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C2DBDC-5856-44A0-B937-5DD9D713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02E3C6-92B6-4246-B3D9-6048DE83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Incluido en react-native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CC65FA-ACD8-4DC1-9492-DBB44443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Aplicacion directa dentro de la practica.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1C4910-2644-4113-848F-254B5D44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10000"/>
            <a:ext cx="2952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0218CF-E933-4E72-AE29-F0E5E9C3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1000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9C818E-294A-484F-9868-40233619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0050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Controlado por visible + state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571894-ACA2-4C3E-8482-6E8CB8E1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62450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Aplicacion directa dentro de la practica.</a:t>
            </a:r>
          </a:p>
        </p:txBody>
      </p:sp>
    </p:spTree>
    <p:extLst>
      <p:ext uri="{BB962C8B-B14F-4D97-AF65-F5344CB8AC3E}">
        <p14:creationId xmlns:p14="http://schemas.microsoft.com/office/powerpoint/2010/main" val="7518535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19C141-25A1-4EA3-863B-E8616374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68F18-6325-46F6-AC98-D2F3AA76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3B80B5-4498-4343-9CBC-696B00A2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DD708-122B-4D5A-B282-BD467AF4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B99A0-EDE2-435D-A4EF-94567AE9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F4496-243D-43A9-90DE-8227CE5A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7873C-5866-4A10-9F0F-56DF5F60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A8607-293C-4088-9ED9-CA1CF77F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3B819-8D50-4B21-9359-5747DAF0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10C85-D104-42F6-B85A-87915BDB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BB57F4-8104-4FE5-97BA-6CFBC3CC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FFF466-1044-4136-B924-DFB6CAB2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5E8806-FFFD-4E6F-BB12-870AEAD8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7D084E-D47B-4D31-906F-3EAE8DDA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7437DA-FEC8-4E51-98DE-89E3C68C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3FE83F-04B3-4CCC-B595-75FECBF3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4D7C67-A9B2-448A-860C-FDFE9D7D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800123-34AD-4578-AEA9-8612B5B3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4863BF-3629-4CFC-BE28-0842C9E1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DAD0E0-D08A-43C3-9A87-C8ECCCB3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Ejemplo visual: confirmar una reserva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B86B71-6F89-4EF6-85CB-82684D9C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El usuario conserva el contexto de la clase, pero la decision queda al centro: cancelar o confirmar.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aa72983eda4bd5">
            <a:extLst>
              <a:ext uri="{96DAC541-7B7A-43D3-8B79-37D633B846F1}">
                <asvg:svgBlip xmlns:asvg="http://schemas.microsoft.com/office/drawing/2016/SVG/main" r:embed="R9a43545932c647c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67625" y="1047750"/>
            <a:ext cx="3429000" cy="371475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1E0853-A925-4A9A-9DF6-884FBE9D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5905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9525">
            <a:solidFill>
              <a:srgbClr val="24436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EE9405-5EB0-4AD1-AAFE-849E5A3C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9900"/>
            <a:ext cx="5448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&lt;Modal visible={modalVisible} transparent animationType="fade" /&gt;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8072B8-4DF6-4AE4-A1C8-E36BE6B2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667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4222B5-A84E-46AF-9F3D-9ECACFC5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667BDC-4F3A-456B-A523-75D06D64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0530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Lectura visual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3D74AD-A250-47FB-8678-2DA3F6CF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La decision se enfoca al centro.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7100A6-93C2-4107-BBAD-678393B5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14800"/>
            <a:ext cx="30099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85C925-C913-4999-8CBB-84372BCD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148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08759B-A3FF-4910-A541-EBB06674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0530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Uso recomendado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35BC73-EA8D-4714-B0CA-53F082B0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67250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Confirmaciones y avisos importantes.</a:t>
            </a:r>
          </a:p>
        </p:txBody>
      </p:sp>
    </p:spTree>
    <p:extLst>
      <p:ext uri="{BB962C8B-B14F-4D97-AF65-F5344CB8AC3E}">
        <p14:creationId xmlns:p14="http://schemas.microsoft.com/office/powerpoint/2010/main" val="7858305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C21C45-F9C7-44C8-BD95-83F65D8F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21ED4-B016-40F2-8681-26A70961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6E5A92-30F0-4DAC-8857-1DCA7B8F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1A815-6648-4D2A-9D10-3EE3F33E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9D924A-EE7A-42DC-86D6-67374C5A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D058E-78E9-4493-A2E6-70987AC6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B31CB-879E-4890-B044-42283D95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2D4129-33B3-43B8-95B6-D6A0B4D0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3739A3-A6EA-4D58-83DB-1C8E01B5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C35769-C15F-473E-9F11-CAB6CEE8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9DE02E-FD4B-4D38-854E-64D88948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27A210-DA9B-4A9A-8620-43974593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99D290-7F0C-4983-BD68-464A699E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5A1654-B973-4718-A160-2B656EE0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D45F10-143E-426E-9362-0E6EA2D2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39D7A3-744D-4905-BF0D-90A3744C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DBA7F-EA73-48E5-9C21-5F7334AA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6C1C0C-698B-41BB-B733-B0333EA4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6324D0-8644-4F6E-8233-726033B2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93F442-51C1-4401-8B68-216108CD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Props mas usadas de Modal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DCDB17-27E5-4648-82BD-751F5817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Estas props cubren casi todos los casos introductorios y son suficientes para una practica clara.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157E2F-DFC9-4725-82DB-BA173C1A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85725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F4F078-8AC3-49E6-8306-1763D6E6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A5B037-0253-4EA5-A6E9-1528F239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765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visible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6D2FB1-4BA6-4A90-8413-B0C6001D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765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9FB2CC"/>
                </a:solidFill>
                <a:latin typeface="Aptos"/>
                <a:ea typeface="Aptos"/>
                <a:cs typeface="Aptos"/>
              </a:rPr>
              <a:t>boolean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69DF0D-A87F-45CD-AB73-7AEFFD35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765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EAF2FF"/>
                </a:solidFill>
                <a:latin typeface="Aptos"/>
                <a:ea typeface="Aptos"/>
                <a:cs typeface="Aptos"/>
              </a:rPr>
              <a:t>Muestra u oculta el modal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8CE004-E7E3-4FD1-8277-6CF9543A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85725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F1E33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4CC3BF-BE70-48EB-901B-44B9C692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5F9672-484B-416E-94C6-BB33E364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908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animationType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AE59F9-3B48-4F40-90AF-3DAF6E19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908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9FB2CC"/>
                </a:solidFill>
                <a:latin typeface="Aptos"/>
                <a:ea typeface="Aptos"/>
                <a:cs typeface="Aptos"/>
              </a:rPr>
              <a:t>none | slide | fade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FAC1D9-3055-41E8-B468-D1EF8993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9087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EAF2FF"/>
                </a:solidFill>
                <a:latin typeface="Aptos"/>
                <a:ea typeface="Aptos"/>
                <a:cs typeface="Aptos"/>
              </a:rPr>
              <a:t>Define la animacion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05F7E6-3081-4C8B-8623-E3793562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85725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2F4644-07D8-4889-B0F4-4D38013A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7B7BDA-3AD8-4B33-A404-C2CA0A43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052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transparent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88EE7E-917D-4BF9-8D98-E857BD34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052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9FB2CC"/>
                </a:solidFill>
                <a:latin typeface="Aptos"/>
                <a:ea typeface="Aptos"/>
                <a:cs typeface="Aptos"/>
              </a:rPr>
              <a:t>boolean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FB02AF-FFA2-4CA3-A55A-76063FB8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052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EAF2FF"/>
                </a:solidFill>
                <a:latin typeface="Aptos"/>
                <a:ea typeface="Aptos"/>
                <a:cs typeface="Aptos"/>
              </a:rPr>
              <a:t>Permite overlay personalizado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6C4300-87D4-44D5-BEBD-CC9BB991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85725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F1E33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A0BB68-629C-405D-BCD8-923DCCC1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EA8A2F-8AAE-4A2B-BC06-066A98FD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95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onRequestClose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ECBC7C-1FEC-47A4-BA3F-88FD8542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195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9FB2CC"/>
                </a:solidFill>
                <a:latin typeface="Aptos"/>
                <a:ea typeface="Aptos"/>
                <a:cs typeface="Aptos"/>
              </a:rPr>
              <a:t>function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43E250-0B3D-4F8C-8351-973F06BF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1957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EAF2FF"/>
                </a:solidFill>
                <a:latin typeface="Aptos"/>
                <a:ea typeface="Aptos"/>
                <a:cs typeface="Aptos"/>
              </a:rPr>
              <a:t>Cierra desde sistema/Android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1E2CF3-5A20-48D4-B423-BA890AA9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85725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F2F0D1-0658-43FE-AF9A-001985EB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3490B3-52DA-4474-8E11-3EB59238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339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onShow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F4ECE7-9106-4955-9B06-FE7B85C8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339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9FB2CC"/>
                </a:solidFill>
                <a:latin typeface="Aptos"/>
                <a:ea typeface="Aptos"/>
                <a:cs typeface="Aptos"/>
              </a:rPr>
              <a:t>function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AA53B8A-93B0-484F-99A1-1463679F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339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EAF2FF"/>
                </a:solidFill>
                <a:latin typeface="Aptos"/>
                <a:ea typeface="Aptos"/>
                <a:cs typeface="Aptos"/>
              </a:rPr>
              <a:t>Corre al abrirse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DAE17EF-7F6D-43CE-A510-51DE8986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85725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F1E33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3417D1F-25C1-4EA1-87E0-396A9304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2F4E15D-B881-4C60-ACF8-064541C0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482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onDismiss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7980802-95A1-4E83-B572-FE520616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482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9FB2CC"/>
                </a:solidFill>
                <a:latin typeface="Aptos"/>
                <a:ea typeface="Aptos"/>
                <a:cs typeface="Aptos"/>
              </a:rPr>
              <a:t>function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1C3DD59-3A01-4985-A6D9-999D6CAA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4827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EAF2FF"/>
                </a:solidFill>
                <a:latin typeface="Aptos"/>
                <a:ea typeface="Aptos"/>
                <a:cs typeface="Aptos"/>
              </a:rPr>
              <a:t>Corre al cerrarse en iOS</a:t>
            </a:r>
          </a:p>
        </p:txBody>
      </p:sp>
    </p:spTree>
    <p:extLst>
      <p:ext uri="{BB962C8B-B14F-4D97-AF65-F5344CB8AC3E}">
        <p14:creationId xmlns:p14="http://schemas.microsoft.com/office/powerpoint/2010/main" val="11574798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2B7436-16A1-4F94-80FC-F210740B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7A868-CD98-46BA-B927-3FE69278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A6BD4-9CF8-4BE5-ADA4-5279BE64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A34B6-FB99-467B-800D-C54E1088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157EF-A28A-49DD-8EB8-FF661127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457B5-205D-4493-ACCF-8FF7829D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C62DD-B7E5-4266-A503-CBB3BA96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ACF887-53D8-4555-88E2-F988AA20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C8DBF-7656-4FE0-BB1C-0A3A678D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0937D2-9160-4BE7-9F2F-D51240EB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2425B-029E-4275-AEE4-2D478E17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701ED-2FA4-48C5-9D67-08ED96F9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67D63D-925A-49AC-8CDD-2231A8B2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57DC59-10B8-4850-A86E-BA216D22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975197-81E6-420E-94EC-2CA1C353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5AAF6C-243E-4F30-8C33-017B8B73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3F0255-87B5-4ECD-AC57-82E4BC62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2783D7-32F1-4E9A-AE22-5195AE24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75F780-B384-4C34-A038-F5D09758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17661D-A63E-4BEB-AD12-EEE2C41A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State: el interruptor del Modal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7B505D-1AA8-4F37-A443-E303331D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El Modal no se abre solo: el boton cambia un estado y React vuelve a renderizar la interfaz.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BD57DC-D40E-4C46-ACFA-C0DC63AA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619125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9525">
            <a:solidFill>
              <a:srgbClr val="24436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0C1661-13FC-4616-B97C-7828D0F5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5734050" cy="225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const [modalVisible, setModalVisible] = useState(false);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&lt;Pressable onPress={() =&gt; setModalVisible(true)}&gt;</a:t>
            </a:r>
          </a:p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&lt;Text&gt;Confirmar reserva&lt;/Text&gt;</a:t>
            </a:r>
          </a:p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&lt;/Pressable&gt;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e22f0ad16744cc">
            <a:extLst>
              <a:ext uri="{96DAC541-7B7A-43D3-8B79-37D633B846F1}">
                <asvg:svgBlip xmlns:asvg="http://schemas.microsoft.com/office/drawing/2016/SVG/main" r:embed="R130921f211844a5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0" y="2686050"/>
            <a:ext cx="314325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</p:spTree>
    <p:extLst>
      <p:ext uri="{BB962C8B-B14F-4D97-AF65-F5344CB8AC3E}">
        <p14:creationId xmlns:p14="http://schemas.microsoft.com/office/powerpoint/2010/main" val="9170011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A0BB4C-224D-427C-89B3-C21C3F81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09826-D09F-4AB8-9ADD-DBA81ECD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48FB0-A483-4DDF-AD93-B97DE3AC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CC2DD-079B-47CA-99A1-95E333E7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A6A0CC-68E0-41B2-B311-9B57BF91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FB4318-A26F-4C7D-84BB-071775ED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29B65-04E5-4BD8-A665-D5089737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99CD9B-E10F-426C-B361-01F8B638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886AD8-4F53-4248-8A07-B56DC0FE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F4F5CF-D8AA-4B64-8960-96CFA6F0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547042-490B-477D-B7FE-7ACF92DA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4C976C-E7BF-46F0-865F-F354E75C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B2E3BB-3A56-4D8E-A9C1-4331407F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902F98-E30A-49F4-8E73-99FEE876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F617F8-0F36-41AB-A3FB-6F14EE62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A4F9EB-6306-41E7-A4BD-EB077A7D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C9A09E-0997-4CDC-8D46-46BA3E0A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5BDEE9-86C9-4368-8BFC-7FDFE01F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E4F5A1-4C32-4561-84C1-B2E19440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8A9D1A-6627-4BCA-8408-CB0D3A7F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Flujo interno de apertura y cierre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A29776-DFA9-4091-9620-89BD2CE9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El usuario pulsa, cambia el estado, aparece la capa; despues cancelar, confirmar o el boton de atras cierran el Modal.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60cba5f4e14273">
            <a:extLst>
              <a:ext uri="{96DAC541-7B7A-43D3-8B79-37D633B846F1}">
                <asvg:svgBlip xmlns:asvg="http://schemas.microsoft.com/office/drawing/2016/SVG/main" r:embed="Rad77c9019a204e6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619250" y="2571750"/>
            <a:ext cx="8572500" cy="2952750"/>
          </a:xfrm>
          <a:prstGeom xmlns:a="http://schemas.openxmlformats.org/drawingml/2006/main" prst="roundRect">
            <a:avLst>
              <a:gd name="adj" fmla="val 5161"/>
            </a:avLst>
          </a:prstGeom>
        </p:spPr>
      </p:pic>
    </p:spTree>
    <p:extLst>
      <p:ext uri="{BB962C8B-B14F-4D97-AF65-F5344CB8AC3E}">
        <p14:creationId xmlns:p14="http://schemas.microsoft.com/office/powerpoint/2010/main" val="8517635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F7FAF9-501B-43F5-9AFD-F3B9C1B1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CCC09-7E5F-4B13-9033-D3B23538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F43E6-041F-4126-9C93-52321534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B54F1-91CC-4B3A-81F9-7EF6A5EC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2B97D-39B4-4E0A-B875-0F7B5B50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D3845C-5FCA-4372-B348-A87528A6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2F7355-75F7-4BDE-833F-3B0ABA68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817845-EA77-49CB-8C3F-3FF71E4D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6C3A2A-B5A8-4BA4-873A-82C93AE3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33BA8A-302D-4FA5-83B4-7B357A7E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6CC53E-6192-495D-9177-2547F4D1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430267-1C6C-462D-AEF9-18A1C7B0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56F8E1-388B-4686-8744-833BB2B1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E76806-8756-4AF5-A3C1-B806BA69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262D61-DA50-44FD-A567-1986F7D6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C3E0DA-29AE-499B-B0E5-5475F1CE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BDE9AD-25A9-4DE1-BC10-88B96DC0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3A8AA0-4079-41C2-8D45-E993ED56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52420E-8D5B-4C4D-AAD6-6BB409FB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66BC79-9624-4936-944D-454D6E86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Bottom Sheet: opciones desde abajo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DA097C-9104-4B37-871E-22D5B820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Un Bottom Sheet aparece desde la parte inferior. Es menos intrusivo que un Modal y funciona muy bien para opciones rapidas.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6ebc0528d4f3e">
            <a:extLst>
              <a:ext uri="{96DAC541-7B7A-43D3-8B79-37D633B846F1}">
                <asvg:svgBlip xmlns:asvg="http://schemas.microsoft.com/office/drawing/2016/SVG/main" r:embed="Radd15d26d0ca46f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15250" y="1066800"/>
            <a:ext cx="3429000" cy="3143250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EB74CA-9EE6-4C40-8892-E68E27EA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2952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65F3A6-D7C8-4227-9E89-EC585460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82E5C0-54A0-4076-B301-B3FB0D7C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Interrupcion media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1C8BDD-3892-48EA-AAB3-E63DAD5A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Idea clave para decidir el patron correcto.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299430-4D02-4BFE-AD04-F5EDBADE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705100"/>
            <a:ext cx="2952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1BB97C-F6E0-4398-B2E0-2DE1371C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70510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52BF90-6837-4322-9A78-5E97E744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9560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Mantiene mas contexto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E33BAB-46D3-42DD-9E7B-D5CCE9E1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57550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Aplicacion directa dentro de la practica.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91946E-7738-4E1E-9668-9BF1E1A3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2952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7ECF6D-CEEE-4B34-BD08-F332DA6D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73C40C-C45A-47F7-8915-133E4CC7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Ideal para filtros y acciones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8F5D9D-A9D0-469B-BAD0-4436A601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Aplicacion directa dentro de la practica.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A72229-EA3F-4A05-8CD2-684DCED6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10000"/>
            <a:ext cx="2952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9B1673-F37D-4F1B-9FE0-CC4B6307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1000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151105-B207-4F38-8CAA-78B295F2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0050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 viene como componente oficial en react-native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1BBE62-BC27-48FD-A14F-E3DC8801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62450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Aplicacion directa dentro de la practica.</a:t>
            </a:r>
          </a:p>
        </p:txBody>
      </p:sp>
    </p:spTree>
    <p:extLst>
      <p:ext uri="{BB962C8B-B14F-4D97-AF65-F5344CB8AC3E}">
        <p14:creationId xmlns:p14="http://schemas.microsoft.com/office/powerpoint/2010/main" val="6510805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1FA284-6B36-47DE-97CA-C47AD917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9640CE-9D78-4469-8D55-2B252E1D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AFFBD-44BB-4E07-9FBD-FE2A2E73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3F7C5-F09B-4E43-A105-7C2AE67B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82DBF-A2F4-4111-B6DF-E64C90AB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D0042-6C2F-4513-983D-CBF7B4CC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480F18-68A9-40C1-B6F0-90D44136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ACDDA-8E47-4A77-BF34-0DF499C8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5B5B11-3363-4514-B6CC-5910003B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D9CC8E-82B1-4EDE-A5A8-5B3BBA98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756A02-533A-4F75-A920-A77C9402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2E6D88-CFB5-4AF2-A273-12D4A2E0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6E56AB-8F32-4490-8465-6EF7F49C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DA20DA-70BA-4019-9787-E6AE8AD4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F67289-9F16-43EB-BA4E-457E40DB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6D0EDD-0420-4C70-AE78-910E7939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04AA2F-446A-4AD8-AFD0-27D20678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9524EB-CAB5-4D9B-ABC1-F674A5EB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279C31-B441-49D2-95CB-99833F89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3CB5E9-729D-4440-BCDF-8AA74406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Ejemplo visual: elegir modalidad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97EC7F-E4C6-4A28-8115-F8EEAB49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El panel inferior permite elegir Presencial, En linea o Grabacion sin abandonar la pantalla de reserva.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c72eb1add4a59">
            <a:extLst>
              <a:ext uri="{96DAC541-7B7A-43D3-8B79-37D633B846F1}">
                <asvg:svgBlip xmlns:asvg="http://schemas.microsoft.com/office/drawing/2016/SVG/main" r:embed="Re50dc209989d42c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67625" y="1047750"/>
            <a:ext cx="3429000" cy="371475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27B959-67A9-4639-AB10-8667A3AB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5905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9525">
            <a:solidFill>
              <a:srgbClr val="24436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7C3B41-4B38-4B78-908E-518C9D74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9900"/>
            <a:ext cx="5448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&lt;BottomSheet visible={sheetVisible} title="Elige modalidad" height={330}&gt;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B3C2F4-9557-4E5D-B1CB-1059B80B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667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1F0D20-D7B2-41C1-9872-6D099113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590A3B-4C39-43BE-B71B-8A7BCD27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0530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Lectura visual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D61F86-EFB8-49CE-A5BC-5C3551D9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Las opciones suben desde la parte inferior.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06E35C-986D-4C05-AEE1-60A5E0C5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14800"/>
            <a:ext cx="30099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C0DD02-B455-47DD-A1C5-D7B0E91F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148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35E03A-3D0A-484E-A59E-177DAE18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0530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Uso recomendado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01488F-0BA1-47F4-8415-A19383A0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67250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Filtros, seleccion y acciones rapidas.</a:t>
            </a:r>
          </a:p>
        </p:txBody>
      </p:sp>
    </p:spTree>
    <p:extLst>
      <p:ext uri="{BB962C8B-B14F-4D97-AF65-F5344CB8AC3E}">
        <p14:creationId xmlns:p14="http://schemas.microsoft.com/office/powerpoint/2010/main" val="8322931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DA2BC1-3904-4088-95C1-EF8F436A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40127-C0E1-42D2-A5A7-C3778034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4262F-2605-429A-A4B6-E9D590D6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647228-A35A-4850-88C3-641C79AA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1598EB-A1DE-4C4F-95C0-F3C6B4DB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C6EAC-0103-4B78-AA87-58234B15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A4ACEE-C70E-4C8A-BF02-BA23546F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98ACA-A71B-4480-A9E4-D0FBE088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374D2B-CF99-41BF-8E39-2E387339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9D9DAA-AB22-42AE-806D-F820033F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FD646C-C81D-439B-B8FE-046D93B4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B5FC33-E3FA-47A8-BD97-DA50433C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531942-EEA1-47E9-88B5-238D612B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AAC0EC-A0B5-45CA-AFE4-0498BDA5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DC764B-B54A-4A35-B04A-3DD969A3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7D4B63-F690-4A40-8584-B9049223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86E9C5-D4AE-4342-A135-AE2C7AC7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9A1A8A-4FD2-475F-83BC-BBB29999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087C56-65A7-4940-8DA3-8C29447C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835FCB-DEC5-4C40-BE59-89980E06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Modal vs Bottom Sheet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5B7803-4F28-410F-85E0-A17D8296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La decision de diseno depende de la urgencia, el contexto y el tipo de accion que se pide.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70F2E9-BD9E-4FC8-B3F5-60377881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9144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F7DF6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04BAE8-75BE-405C-A83F-8FEB080C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Criterio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47576F-450B-4FE9-99E1-5539D209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71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0811F3-B95B-4F4A-B762-D017A880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717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Bottom Sheet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AA30FE-A469-48CA-8E5E-CF47D63A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9144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4D6F7D-783C-48A7-8641-09317F3A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Posicion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D19FFC-4139-4C94-B9C0-EC60D4A0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67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Centro o pantalla completa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66D64A-3A79-4D59-9835-B6B4F841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670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Parte inferior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723794-1752-4456-B3F6-50D07575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67100"/>
            <a:ext cx="9144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309388-1475-416D-849C-00E6D584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Interrupcion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FBE69B-EA24-4411-8328-16569476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62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Alta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C63B12-DAFA-487C-845E-66FEB668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5623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F1079A-CE11-4FCD-9EA7-902CAA0E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9144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89A8C6-9EAB-43F1-BFDD-6D42291A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57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Uso ideal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DD0E93-076D-4D54-8904-D177FD18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576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Confirmar o alertar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E7E077-35DE-4219-BC0D-6D75D3EF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576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Elegir opciones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498519-5F3B-4974-8365-8EE6BD81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9144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BAB52F-4142-4CA5-9C07-FB1AA265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Contexto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9555DF-6731-499B-AD6B-E7627CBC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52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Menos visible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E9F602-3387-41BF-95ED-27D6E9A8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529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Mas visible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B92B6E-A22F-4A0E-86FF-3D02F8F1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9144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29215B-B7F5-41B0-8C14-9274153E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Practica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CAEB9E4-B4EA-4516-8F06-8DBE8A5F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48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Confirmar reserva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9BAA70-7423-4733-B2C7-A4B6B0D7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482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Elegir modalidad</a:t>
            </a:r>
          </a:p>
        </p:txBody>
      </p:sp>
    </p:spTree>
    <p:extLst>
      <p:ext uri="{BB962C8B-B14F-4D97-AF65-F5344CB8AC3E}">
        <p14:creationId xmlns:p14="http://schemas.microsoft.com/office/powerpoint/2010/main" val="5821113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B599C9-DF13-4170-B348-2A9541ED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2C276D-E075-4D32-B95E-66567B9D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EF6F67-75DC-4646-8124-E81DE24E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5E430-B2EB-4872-ACA8-27ABABD2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3BBA6-DFEC-4F14-9E19-DE1B10E5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47E63-61DD-40F7-A0CA-20F79190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D2DF3-2C0E-4EE7-B46A-568CACBF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39A86-F0A9-44CF-8471-0CBFBEDD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4FDDE1-F49B-4CFB-A57E-66F30281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E690C0-CAEF-4CCD-904A-CFF61D24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AB23E-D4EA-4B0A-9C01-8DB1706B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11157-DAE4-4CDC-969B-6D2DD3D1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29220D-F761-41EE-A9D0-BD41CF79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C9305B-99B0-49DA-9C71-D3452202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000D06-77A3-420D-A82A-F087A93F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3EECE9-A1A4-434D-9D20-7728F7FC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2037FE-9D71-4B13-9D61-6BD4CCD2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0118E4-0B9C-417C-A9B4-5A4BE144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515D4A-F22F-48CC-A1ED-B902BB37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DEB066-AD47-4E2D-8305-CC98036A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Arquitectura de la practica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80CB7D-5CEF-4C11-A003-CA9CDA9F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La pantalla combina dos capas de interfaz y cuatro estados principales.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32A40F-3DF6-481B-BF1D-A4FB8DB1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1809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2F7DF6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0F9E7D-1E2D-4B2E-85C7-F6992218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813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AF2FF"/>
                </a:solidFill>
                <a:latin typeface="Aptos"/>
                <a:ea typeface="Aptos"/>
                <a:cs typeface="Aptos"/>
              </a:rPr>
              <a:t>ModalScreen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A65F94-2FA4-4FAE-AE8D-4DF442B6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76500"/>
            <a:ext cx="1809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67DDE7-800C-497B-B134-59432EC6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051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AF2FF"/>
                </a:solidFill>
                <a:latin typeface="Aptos"/>
                <a:ea typeface="Aptos"/>
                <a:cs typeface="Aptos"/>
              </a:rPr>
              <a:t>Modal nativo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60ACE0-8688-48DC-9081-A9596875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86125"/>
            <a:ext cx="666750" cy="-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D9F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B1D07B-2357-4D8F-86B3-2FECCA77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52850"/>
            <a:ext cx="1809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7CE556-360F-4FDE-9500-DA94FF3C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814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AF2FF"/>
                </a:solidFill>
                <a:latin typeface="Aptos"/>
                <a:ea typeface="Aptos"/>
                <a:cs typeface="Aptos"/>
              </a:rPr>
              <a:t>BottomSheet educativo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29A01A-AC6B-4579-85CA-A874B2CF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09875"/>
            <a:ext cx="-1809750" cy="1276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D9F2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02B6E8-6AB8-4913-A0E6-08A01673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1809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D8F56F-9B46-4107-879E-4A35653D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051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AF2FF"/>
                </a:solidFill>
                <a:latin typeface="Aptos"/>
                <a:ea typeface="Aptos"/>
                <a:cs typeface="Aptos"/>
              </a:rPr>
              <a:t>useState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980B1F-AB2D-419C-9394-8A2409B7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86225"/>
            <a:ext cx="762000" cy="-1276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D9F2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A43755-B69A-4F0C-8166-4AEC1FAC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52850"/>
            <a:ext cx="1809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486E2D-828C-4E45-965A-C3161693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814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AF2FF"/>
                </a:solidFill>
                <a:latin typeface="Aptos"/>
                <a:ea typeface="Aptos"/>
                <a:cs typeface="Aptos"/>
              </a:rPr>
              <a:t>Animated.Value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E27F59-EE10-4369-AE7F-7C628EDB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09875"/>
            <a:ext cx="-1809750" cy="1276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D9F2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99195E-8F88-49EC-897F-ADFBA22C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14675"/>
            <a:ext cx="1809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D95C29-4203-49B9-9F2D-B44903EE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4327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AF2FF"/>
                </a:solidFill>
                <a:latin typeface="Aptos"/>
                <a:ea typeface="Aptos"/>
                <a:cs typeface="Aptos"/>
              </a:rPr>
              <a:t>Pressable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ABC63A-F845-4D56-B336-8954D6A7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86225"/>
            <a:ext cx="571500" cy="-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D9F2"/>
            </a:solidFill>
          </a:ln>
        </p:spPr>
      </p:sp>
    </p:spTree>
    <p:extLst>
      <p:ext uri="{BB962C8B-B14F-4D97-AF65-F5344CB8AC3E}">
        <p14:creationId xmlns:p14="http://schemas.microsoft.com/office/powerpoint/2010/main" val="20584872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8C68C1-1E23-46A4-B2DC-415B1ADA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CB511D-6C46-4942-A63E-031C83E4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D0E07F-5AC5-4BBD-91EE-8A7674E1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C8546-E877-4C06-AF93-B1A5593A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6A5CC-D2E0-4E83-944F-7CF1B3D6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82AE6B-BAE2-4BA7-BC27-B64ED0AA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90F79-7D79-4C91-BDF1-FB212B8E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54B52C-641A-445C-9311-6E194E04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D3A2A8-23ED-4CEE-9737-6BDC8E70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C2157A-3B94-4103-8ECC-080C5430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B06678-A22F-49E8-98DF-D067274B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D0BBC6-024D-4D8F-82FB-DF2E302B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4139E9-59F0-4937-9089-D672D6A8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64307A-55F1-4A9C-884F-5411C06D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5590D8-00D0-4EC6-978C-6DD8A6ED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7E7187-2345-4605-8634-B6A53B12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5B3A8B-C034-497D-BB05-D3DB568F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047C5F-6F28-4778-A124-647D264C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134F6B-3FA0-4F7A-8C0F-1FCFB99C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011E3C-7D3A-4AA3-9B62-DD9B3301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Props creadas para el Bottom Sheet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28385A-5AFD-48D2-83FB-262013DD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Como no instalamos librerias, creamos un componente propio con una API sencilla y explicable.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8FE70F-806F-487D-917E-23E8F94F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2857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01FF00-9E25-4C54-98C7-863D5BDD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04E2FD-A7B7-4ED7-816B-9EBA6B32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765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visible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10A9AC-D46E-47DF-A067-AFD83917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Abre o cierra el panel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C43FFB-5A82-471C-A772-8FDBACE0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86050"/>
            <a:ext cx="2857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D3E4BD-8EC1-46CB-9F5C-4886D16F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8605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2C27E8-C8DC-405F-A0AA-B8F1F8A4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765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onClose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E536EC-E093-452E-A2C5-986EAF81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385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Funcion para cerrar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FD3B7D-0924-42A6-98E0-72E83A51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86050"/>
            <a:ext cx="2857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6286B8-8463-4E00-A6FB-0D4DEA0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8605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D8B365-D85B-4880-AEBE-3E9D5C2C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765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title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A0BFE7-109F-4678-AFB1-CC7EB4A9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385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Encabezado visible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DC8807-C3A9-434B-A0F4-8C71C87E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2857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C9C0C8-EDA1-4B44-A37D-95BB89B7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A21E48-50D0-40EA-BE47-A73555EF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576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height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60F12C-47BD-4115-BDC6-91B06FC6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Altura del sheet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B2FB17-7FC5-4720-B7B4-FA553168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67150"/>
            <a:ext cx="2857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FB18B54-E8D1-47E2-8CDA-CA7E6AEC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6715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0E957E-DA2A-4AE3-8763-3C85AABC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576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children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7310B06-B9A4-4F05-B189-1F5617DF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196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Contenido interno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071423-392F-46C9-BE16-AB346344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2857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D8C47E-18F6-4E1E-935A-81737365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ADC830-4A5F-492C-B233-C2660BF4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576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closeOnBackdropPress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99B26F-FD0F-4ADF-987D-7E9DBFB5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4196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Cerrar tocando fuera</a:t>
            </a:r>
          </a:p>
        </p:txBody>
      </p:sp>
    </p:spTree>
    <p:extLst>
      <p:ext uri="{BB962C8B-B14F-4D97-AF65-F5344CB8AC3E}">
        <p14:creationId xmlns:p14="http://schemas.microsoft.com/office/powerpoint/2010/main" val="12963031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1A9FCA-36F1-4D86-B4B7-3CEDC550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61948-70F3-48E8-849D-E9ACCCDF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18CA2-2D5B-4D83-A193-763DB0A8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0AE11-5F69-4592-AA3D-5C2AFA0E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6687BD-617E-431A-B94C-99CE5705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BF366F-27CA-4575-97B0-54DA7445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A0645C-5C36-40C9-BA1F-D34379BC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1BB74-02AA-43DE-9CC9-C5C38F4C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24710E-B740-4993-9576-439A860B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42666B-2616-45A7-B3C4-55C4F5DC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AE5C81-33C7-4598-B787-76790AE6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DAD3C5-97B3-4CF5-A91E-B7163809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8B1020-03E4-4010-9066-E29AB6FC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5218DB-EC79-4A20-A1A4-791FCC5B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C64B3E-F850-4ECE-91D3-C52925A4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EE4869-73E4-49F6-8320-7BB3C57F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47F6AF-1C06-4DB0-91E8-528D4013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9CCF2D-5A81-4508-A3F4-79314E45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9FC16E-EEBD-419B-9FC9-94754286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3D9FBD-5E68-4C23-A8E1-CCA6EABB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Animacion con Animated.Value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3E4543-7269-4221-AD9A-3766395B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El truco esta en mover el panel en el eje Y: cerrado abajo, abierto en cero.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C70E9A-02DB-4276-986B-33F0F2C1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619125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9525">
            <a:solidFill>
              <a:srgbClr val="24436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93A8B6-FEFB-4B64-95C4-8D29DA8F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5734050" cy="225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const translateY = useRef(new Animated.Value(height)).current;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Animated.timing(translateY, {</a:t>
            </a:r>
          </a:p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toValue: visible ? 0 : height,</a:t>
            </a:r>
          </a:p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duration: visible ? 250 : 200,</a:t>
            </a:r>
          </a:p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useNativeDriver: true,</a:t>
            </a:r>
          </a:p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}).start();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7e2bf299dc4a58">
            <a:extLst>
              <a:ext uri="{96DAC541-7B7A-43D3-8B79-37D633B846F1}">
                <asvg:svgBlip xmlns:asvg="http://schemas.microsoft.com/office/drawing/2016/SVG/main" r:embed="Rbc9522187027418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0" y="2686050"/>
            <a:ext cx="314325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</p:spTree>
    <p:extLst>
      <p:ext uri="{BB962C8B-B14F-4D97-AF65-F5344CB8AC3E}">
        <p14:creationId xmlns:p14="http://schemas.microsoft.com/office/powerpoint/2010/main" val="8134220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D37C50-047E-48F5-B4D6-EC85F515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5AC41-5BA1-47E1-AA0B-6144D423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A073D-B8F4-4354-925C-C053CA4B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D82DB-959D-471C-8F71-90410891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58F30-6BD4-4E7E-81B2-6D33075C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6205E4-CFC0-4070-BEEC-448C527C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F1ADD-DAF6-489E-8547-76F19EC8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9A5156-A424-4749-87C9-7ED782B2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12661B-84F1-44A1-A95D-BFA3B37B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CAEE5C-774C-406C-802B-39E3E516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80FD87-33AE-4A08-ABE2-6F9208E8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AA9057-982E-4796-84D8-62544631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66034A-A51A-47B8-ADDF-FD381894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6B0128-D63A-4B33-BE18-05B58EBB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5DDB93-AB5F-4B3B-9654-E0BB0720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55616F-82FA-4AA7-A707-13FD756B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11A019-B72E-4E11-A47F-7805C4C1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D4ECBD-A849-477A-8027-11B113A9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074883-F0DF-4BF8-9FFA-6B87FAAA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14734B-4456-423F-B4C8-4B873A66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Practica guiada de 40 minutos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CC965A-FCBC-4DE1-BFBA-279C2AAD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La sesion esta pensada para construir por partes y explicar cada decision.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561EA4-6FC4-42FD-85FE-A7C38F25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16764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9BBC4E-9894-4E70-97B4-EF864B62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0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0-5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EAE934-C18D-48BE-8B57-5565442A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Introduccion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DC78B4-3B53-4342-9107-422365A3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48000"/>
            <a:ext cx="16764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32741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6ADA5B-A0DB-4641-81DE-20BCD0B9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5E09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55E09B"/>
                </a:solidFill>
                <a:latin typeface="Aptos"/>
                <a:ea typeface="Aptos"/>
                <a:cs typeface="Aptos"/>
              </a:rPr>
              <a:t>5-15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7B4C5B-36D2-45C8-BE29-C08F98F2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3380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Modal nativo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0FE35A-0B5A-4093-A372-BE91CCBC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48000"/>
            <a:ext cx="16764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659493-1ED2-4519-8613-352666DA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38500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CF5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CF5A"/>
                </a:solidFill>
                <a:latin typeface="Aptos"/>
                <a:ea typeface="Aptos"/>
                <a:cs typeface="Aptos"/>
              </a:rPr>
              <a:t>15-28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6246FD-E45C-4162-897D-553099B7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3380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Bottom Sheet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37CDF9-B47F-47A7-A5AF-9731020F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16764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32741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CC75EB-7B77-4719-BA78-D5203C3C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38500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5FA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5FA2"/>
                </a:solidFill>
                <a:latin typeface="Aptos"/>
                <a:ea typeface="Aptos"/>
                <a:cs typeface="Aptos"/>
              </a:rPr>
              <a:t>28-36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4BA3AF-7D77-42A2-B10E-0F8D166F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3380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State e integracion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A5C6AC-1E69-4455-BA15-C6FB5B7A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48000"/>
            <a:ext cx="16764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C72585-C0E9-46A6-8F5B-3C1851B5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38500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8B5CF6"/>
                </a:solidFill>
                <a:latin typeface="Aptos"/>
                <a:ea typeface="Aptos"/>
                <a:cs typeface="Aptos"/>
              </a:rPr>
              <a:t>36-40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1CB513-993F-4195-8D15-5D1B76D8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3380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Cierre y preguntas</a:t>
            </a:r>
          </a:p>
        </p:txBody>
      </p:sp>
    </p:spTree>
    <p:extLst>
      <p:ext uri="{BB962C8B-B14F-4D97-AF65-F5344CB8AC3E}">
        <p14:creationId xmlns:p14="http://schemas.microsoft.com/office/powerpoint/2010/main" val="10825754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B52B03-9BE9-4F46-897D-4C057432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D4623-900D-47D7-8889-3F8AE2B6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06698-9E48-48AF-B76B-687FE27E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F6101-C78E-4D54-BC08-4F11AC1E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3C759F-2F0C-472A-B307-F4A2B4E6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05061D-6C8A-4DAE-8C6B-E3A870A5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80C40-4ED8-4699-9450-A1D521EE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A6F28-8215-4711-8793-E26DFA49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826C6-A6DA-4E69-892E-5DF278F7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861EFB-9291-4A19-8DB3-EBE45FFD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B205AD-F9C1-46B3-87B4-028DC0FF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15AD98-4FD1-4E30-A3F3-A9928148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A1416F-9462-40A7-98FF-F2868B2B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2A2A24-7F74-4DBB-9F75-F673A373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C759C3-BB82-4964-ABED-A7432643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426891-B84E-4604-9499-3E41E77B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F677C2-027B-48E9-8BBC-4C5008F7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4DDECD-1DEA-4500-A5F6-614A8B5D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67EA68-6058-4C6D-9AC4-4E47AFB6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B4710D-4A39-4C4E-A8F7-F3066652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Division equitativa entre 3 personas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CEC45C-3760-4F96-9F74-1D790933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Cada expositor tiene un bloque tecnico y narrativo claro.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69AD56-5172-4BBE-9296-E088A4B7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2952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F0E659-D45E-4C23-9872-E60CE002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335EE6-52A7-4215-81F7-2DD88065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Persona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0C6777-DE77-442F-897F-0CFB1FDD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2495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Modal nativo</a:t>
            </a:r>
          </a:p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Concepto, props y confirmacion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972AE7-023A-488D-A5EC-5158F8CB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81300"/>
            <a:ext cx="2952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A9C163-24E4-4D2A-8FA4-DF23B594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813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01C45D-D031-4420-8FE8-A4841C48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7180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Persona 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3D9190-D508-493E-93EF-D0B31AE6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3750"/>
            <a:ext cx="2495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Bottom Sheet</a:t>
            </a:r>
          </a:p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Componente propio y animacion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0F591C-2A67-471E-A89D-B5752D40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81300"/>
            <a:ext cx="2952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45EF50-10E5-4E8F-B113-FC1C3BAE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813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FD5FE2-7F39-4233-8F07-A4FA4977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7180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Persona 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06BF7F-BCED-40C7-8C04-22F73848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2495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State</a:t>
            </a:r>
          </a:p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Integracion, demo y cierre</a:t>
            </a:r>
          </a:p>
        </p:txBody>
      </p:sp>
    </p:spTree>
    <p:extLst>
      <p:ext uri="{BB962C8B-B14F-4D97-AF65-F5344CB8AC3E}">
        <p14:creationId xmlns:p14="http://schemas.microsoft.com/office/powerpoint/2010/main" val="120020132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65EFB3-D975-4DDD-ACD3-5C120DDF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A1F00-BB5D-4AB7-BA7B-7ED1CCB4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6D418-C334-4307-B8E3-F7DE73D9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4EA17-DA8D-4AF9-89F2-45DA725D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8A6A78-CDF6-49F7-8C3B-5BB4C991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D20084-CCFA-4AF0-8770-A33FD641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9A8F1-3B84-4013-9F66-BB391D47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E0D801-5584-4778-A4D3-DDD21434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594F9A-9965-4B40-A8D3-7C2EBF69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6B45F-80B2-4774-AD0C-D54818AA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D61524-09B0-48D6-AB0F-C372C988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9F01B9-FA9D-495E-8DD4-35C71A90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9A81CE-D53A-4C43-ABCE-C2C72B97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3B3AE8-2EDB-4611-8FFD-EB71CD24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D4BECB-A05C-4E40-94D5-187FB248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FAD548-1800-4B3B-BB1E-90664E69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BFCB6C-E93C-4190-8511-A6804DB6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6CB09C-FE21-4321-9670-D0665EBD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3AFF0B-9AD4-49E7-AA15-D6A742CF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971847-324C-4760-82BD-C3C73D0C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Paso 1: imports correctos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1E4A89-E9A1-4A4A-A77B-0D7A6C8D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La practica necesita hooks de React, componentes de React Native y StatusBar de Expo.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5148D6-BA57-4EB4-874C-1CB412F5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619125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9525">
            <a:solidFill>
              <a:srgbClr val="24436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6BE511-653A-4CEC-A7A2-A47129D2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5734050" cy="225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import { useEffect, useRef, useState } from 'react';</a:t>
            </a:r>
          </a:p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import { StatusBar } from 'expo-status-bar';</a:t>
            </a:r>
          </a:p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import { Animated, Modal, Pressable, StyleSheet, Text, View } from 'react-native';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669c038b764772">
            <a:extLst>
              <a:ext uri="{96DAC541-7B7A-43D3-8B79-37D633B846F1}">
                <asvg:svgBlip xmlns:asvg="http://schemas.microsoft.com/office/drawing/2016/SVG/main" r:embed="R3d61f95a5988404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0" y="2686050"/>
            <a:ext cx="314325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</p:spTree>
    <p:extLst>
      <p:ext uri="{BB962C8B-B14F-4D97-AF65-F5344CB8AC3E}">
        <p14:creationId xmlns:p14="http://schemas.microsoft.com/office/powerpoint/2010/main" val="13971864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D6294B-588A-4629-B468-86779B33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5198F6-2324-41DD-8231-B6A957B3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7716E-FFEB-4EFA-990A-8724C2A9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D295D-EEBC-4564-9223-C8391A69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D9136-9D6D-4630-A90E-6B63A300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E4E76-C755-4649-A0D1-F00C67AB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6501D-23E9-4840-AD21-F583CEB2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2C56D2-9ED3-4794-AB56-EAB90E6A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718B6A-4950-4704-8383-D2CDA267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564394-6EB7-45CE-A62A-ED1F1565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382E51-B760-4A94-B800-FF16C5FB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DBEFD5-6C67-4877-AAA0-278C5222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3EE073-0EC0-44CF-B463-1C1D32CD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2DEE8A-8B6E-4136-8545-A996161A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FBCA6F-D685-4A41-82E8-59BE6FB2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5B525F-F114-4848-82AA-FDC9F91B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F511E8-52A1-454F-9CDC-149EEF5B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E55622-F69D-4939-9442-965182E2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6E11FB-D68E-4B9C-9425-DCAD144D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C3BA82-31C0-419B-BD33-3B161654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Paso 2: estados principales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ECDC02-2DD6-4A86-BB39-1849AE61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Cuatro estados controlan toda la experiencia de la pantalla.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01006E-3A63-481C-947A-DBAC7BCD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619125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9525">
            <a:solidFill>
              <a:srgbClr val="24436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524FDB-0B6D-45D5-8B24-DAC2E596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5734050" cy="225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const [modalVisible, setModalVisible] = useState(false);</a:t>
            </a:r>
          </a:p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const [sheetVisible, setSheetVisible] = useState(false);</a:t>
            </a:r>
          </a:p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const [selectedMode, setSelectedMode] = useState('Presencial');</a:t>
            </a:r>
          </a:p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const [reservationConfirmed, setReservationConfirmed] = useState(false);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90c4e1cf64d35">
            <a:extLst>
              <a:ext uri="{96DAC541-7B7A-43D3-8B79-37D633B846F1}">
                <asvg:svgBlip xmlns:asvg="http://schemas.microsoft.com/office/drawing/2016/SVG/main" r:embed="Raafdb29e95b04f6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0" y="2686050"/>
            <a:ext cx="314325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</p:spTree>
    <p:extLst>
      <p:ext uri="{BB962C8B-B14F-4D97-AF65-F5344CB8AC3E}">
        <p14:creationId xmlns:p14="http://schemas.microsoft.com/office/powerpoint/2010/main" val="6840463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1B16FD-4A9E-4B24-AB58-5E99B6A1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1F99E-EF36-467B-BE69-600EED30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B8323-C9AA-4D20-9021-C3F8A0AD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01DE3-09A8-4E13-B26E-AB114084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16180-972F-4A6B-809F-CAB1B4D3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7BCFF0-345E-4E2A-B678-54A18D18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16B52-FAB4-47A9-97AB-5EBF5DCC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349CAA-9DE8-462E-B76B-49F7D945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4E124-F99C-4953-97F9-EB9F27A4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0A46BB-CBEB-4AC0-B35C-D4B26690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B1C778-2422-4497-B2C8-063E6AD3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BA0E77-BFC2-481A-B015-1248E601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1A7B65-C41D-4414-B30D-29859536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E8EE3E-E143-4DC3-B24A-646AF899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9D6DED-9E71-479E-9288-C0899204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57A66B-29EB-470D-8CDE-5C05E9AB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EBEEC6-775A-44B6-BF74-7139DD75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7B51D2-A65B-42D9-BCB9-9E516D74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B21624-88CB-4C07-AC92-160A42BE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FBCBF8-AA5D-472C-BEA6-F6D55FFA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Paso 3: estructura visual base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3E1AA6-2D7E-49C0-B685-5A43DB39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La pantalla muestra una clase, la modalidad elegida y el estado de la reserva.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A94F8A-A75C-4137-AD97-961C63D3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619125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9525">
            <a:solidFill>
              <a:srgbClr val="24436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040250-23D8-48B5-B7E7-F6FA22E7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5734050" cy="225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&lt;Text&gt;Modalidad: {selectedMode}&lt;/Text&gt;</a:t>
            </a:r>
          </a:p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&lt;Text&gt;Estado: {reservationConfirmed ? 'Confirmada' : 'Pendiente'}&lt;/Text&gt;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&lt;Pressable onPress={() =&gt; setSheetVisible(true)}&gt;</a:t>
            </a:r>
          </a:p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&lt;Text&gt;Elegir modalidad&lt;/Text&gt;</a:t>
            </a:r>
          </a:p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&lt;/Pressable&gt;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4f4091a6f4981">
            <a:extLst>
              <a:ext uri="{96DAC541-7B7A-43D3-8B79-37D633B846F1}">
                <asvg:svgBlip xmlns:asvg="http://schemas.microsoft.com/office/drawing/2016/SVG/main" r:embed="R27540ccdebdc4e3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0" y="2686050"/>
            <a:ext cx="314325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</p:spTree>
    <p:extLst>
      <p:ext uri="{BB962C8B-B14F-4D97-AF65-F5344CB8AC3E}">
        <p14:creationId xmlns:p14="http://schemas.microsoft.com/office/powerpoint/2010/main" val="91502014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8EA98F-C94E-475A-B26E-F359A3F8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E91CB-98B2-4A6F-8E97-8B359DF3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1DFCD0-E799-476F-8C13-2D2B0BF0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98213-F88F-4D3F-8D21-587451A8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4E21DF-333D-408B-91EE-2F53A406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F3F53B-5C5C-4104-9A3D-1F9D52F0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76BCB-91C8-4623-A476-BF3F3DEC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9899C-7CE2-44AA-B055-41CCF275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3242CD-CF0F-4DCB-A3D2-B7B71FBB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D6C533-CE81-43F8-AA35-992016C9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24BA6C-0195-4737-801C-EEE7F737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2399B4-2915-4F2E-932E-18DE4418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2ED37-DCDC-4509-85EB-34CD674E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11E44A-59FD-40DF-AD29-60D4E116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572581-1913-41F2-B34F-1150A293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61E7F5-961E-450C-AED0-4F4B95EE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7FF014-3038-4BED-8CD5-764520EA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18AC2F-FF9F-4FC1-A3EA-A20500B2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F4A103-B885-4AAC-98AA-ECEE8AED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3D9382-0B1D-40DC-99E8-935B7D1A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Paso 4: Modal de confirmacion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9F7873-EBBA-49EB-B250-4AF5C9BC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El Modal valida la accion antes de marcar la reserva como confirmada.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86439C-BC25-4B18-A5F2-EDC230FD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619125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9525">
            <a:solidFill>
              <a:srgbClr val="24436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53DE33-011F-4257-A931-F5D0BB52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5734050" cy="225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&lt;Modal visible={modalVisible} animationType="fade" transparent onRequestClose={() =&gt; setModalVisible(false)}&gt;</a:t>
            </a:r>
          </a:p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&lt;View style={styles.overlay}&gt;</a:t>
            </a:r>
          </a:p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  &lt;View style={styles.modalCard}&gt;</a:t>
            </a:r>
          </a:p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    &lt;Text&gt;Confirmar reserva&lt;/Text&gt;</a:t>
            </a:r>
          </a:p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  &lt;/View&gt;</a:t>
            </a:r>
          </a:p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&lt;/View&gt;</a:t>
            </a:r>
          </a:p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&lt;/Modal&gt;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2f619fc35b4a9d">
            <a:extLst>
              <a:ext uri="{96DAC541-7B7A-43D3-8B79-37D633B846F1}">
                <asvg:svgBlip xmlns:asvg="http://schemas.microsoft.com/office/drawing/2016/SVG/main" r:embed="R62bcaa9cb45b4cc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0" y="2686050"/>
            <a:ext cx="314325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</p:spTree>
    <p:extLst>
      <p:ext uri="{BB962C8B-B14F-4D97-AF65-F5344CB8AC3E}">
        <p14:creationId xmlns:p14="http://schemas.microsoft.com/office/powerpoint/2010/main" val="199985780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3C1F81-B429-4023-80F5-67414817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1965B-DA7B-4145-93D2-DE0166F2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E7612-A541-40F3-950D-ACC35140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B6A5CA-7D2E-4E3F-BB1F-7698A120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AC337-097B-488D-83D7-61698752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0BAEA-89EA-40E0-820C-48EE493A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C90F0E-BD88-491A-A431-7F78895E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F626B4-7DF0-4839-901C-94612508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0ED0C6-B722-469D-8F8E-768A4DDA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D19A5-B3F5-4094-83C5-A8284EAA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0EECE9-3FA7-48F3-9D78-3A662FB2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A321CC-8C0F-4569-9F85-1DD0C59A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14AF8C-77B7-4FF7-8ADE-B48D2FBB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F30A0A-A111-4C7C-BB7A-29C6F243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0911C1-62E2-4A30-894F-F582E50D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AC9894-D3E2-419E-A73F-22E19821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921461-441F-486C-AF31-8452EEAD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D5278E-C31B-45A3-960B-95BDE658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31B230-6891-475F-879B-8B2E00B9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2B5D25-EA31-4257-8D29-9C284CFB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Paso 5: BottomSheet educativo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2D0568-4941-4E39-935D-1070A025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El componente recibe props y renderiza contenido flexible con children.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A40ED7-4266-4E5D-B0E8-FEDF863E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619125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9525">
            <a:solidFill>
              <a:srgbClr val="24436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E636CA-3EC4-466F-A47A-9ED9A63D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5734050" cy="225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function BottomSheet({ visible, onClose, title, height = 320, children }) {</a:t>
            </a:r>
          </a:p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return (</a:t>
            </a:r>
          </a:p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  &lt;Modal visible={visible} transparent animationType="none"&gt;</a:t>
            </a:r>
          </a:p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    &lt;Animated.View style={{ height, transform: [{ translateY }] }}&gt;</a:t>
            </a:r>
          </a:p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      {children}</a:t>
            </a:r>
          </a:p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    &lt;/Animated.View&gt;</a:t>
            </a:r>
          </a:p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  &lt;/Modal&gt;</a:t>
            </a:r>
          </a:p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);</a:t>
            </a:r>
          </a:p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13aadefcfb4ae9">
            <a:extLst>
              <a:ext uri="{96DAC541-7B7A-43D3-8B79-37D633B846F1}">
                <asvg:svgBlip xmlns:asvg="http://schemas.microsoft.com/office/drawing/2016/SVG/main" r:embed="R94d11aa0f6fb431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0" y="2686050"/>
            <a:ext cx="314325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</p:spTree>
    <p:extLst>
      <p:ext uri="{BB962C8B-B14F-4D97-AF65-F5344CB8AC3E}">
        <p14:creationId xmlns:p14="http://schemas.microsoft.com/office/powerpoint/2010/main" val="76050735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BE2F92-0063-47B2-8F2D-42C4845B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630600-4A5C-42BE-B3D9-8A221999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87A780-8C6B-4383-9902-F53610D4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8CCE2-5565-4B0C-8ABA-6671E323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E51B8-FBDA-41DE-8918-E92AA3CE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D57CF2-DE1C-410E-AEE1-E9F2284E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88276-E9E3-427F-A1FF-E6F7DDFB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F1D920-6AA1-4BEA-9123-3B739347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758554-7679-4236-9F87-721DF118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E4F6B3-EDAD-4EE9-BCE5-E02E1680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0E142D-2FA9-4A79-AD49-CE28BB84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B22E2E-E15B-45A8-AED2-67E2BEDA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CCA559-9906-4DDE-90FA-2D84B930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B996E9-1F4C-452C-9F0B-8F64124E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BF6BCA-FE3A-4525-BB80-E7F5D08F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22DC4-C36B-41D8-ACCC-0D956376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48E3C9-3C5A-4066-9F21-12C49570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A4B7E5-DABF-40DF-A55C-9F55D8B2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D19188-01A0-44A3-8D91-A9DDEC0C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22EE02-AFAC-40A5-8195-3ABDEF6F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Paso 6: seleccionar modalidad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C07FFB-B1AD-4CAC-BF17-569AF796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Cada opcion actualiza la modalidad, reinicia la confirmacion y cierra el panel.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4CEB7A-3129-4E6A-9FDB-FDBEBF72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619125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9525">
            <a:solidFill>
              <a:srgbClr val="24436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00310A-27C9-4C66-955D-D870FEA8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5734050" cy="225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function selectMode(mode) {</a:t>
            </a:r>
          </a:p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setSelectedMode(mode);</a:t>
            </a:r>
          </a:p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setReservationConfirmed(false);</a:t>
            </a:r>
          </a:p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setSheetVisible(false);</a:t>
            </a:r>
          </a:p>
          <a:p xmlns:a="http://schemas.openxmlformats.org/drawingml/2006/main">
            <a:pPr>
              <a:defRPr sz="127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6bb8948cba4c7d">
            <a:extLst>
              <a:ext uri="{96DAC541-7B7A-43D3-8B79-37D633B846F1}">
                <asvg:svgBlip xmlns:asvg="http://schemas.microsoft.com/office/drawing/2016/SVG/main" r:embed="R01bb581cedb14ee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0" y="2686050"/>
            <a:ext cx="314325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</p:spTree>
    <p:extLst>
      <p:ext uri="{BB962C8B-B14F-4D97-AF65-F5344CB8AC3E}">
        <p14:creationId xmlns:p14="http://schemas.microsoft.com/office/powerpoint/2010/main" val="208526906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EE38D9-1A03-40E2-8CFC-2991D059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4DE3E-03AA-4B72-AB6C-443BD141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705F70-09E4-44CF-9289-106D4BE8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8D870-6744-443F-9065-6DF4E561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50195C-368C-40D7-9B43-BCFCC458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4ECC7-29D2-4C29-BC44-48442B9A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3061B9-5B46-43EE-BE3C-0B583360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229679-7139-45D0-ACC5-0EB1E05A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3B0FC3-ECCA-4D1D-8AD4-E19CC125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C93182-8324-4958-8F7F-D42107FB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3D9BB4-86B4-45AB-B0BF-21DE2C7C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4C3FD0-852B-492D-B368-5131B1D4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5E6728-0EA6-40FA-A42D-2891652D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709E1D-CD9C-4791-9F73-0678ECC7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65E732-F021-46B1-A657-26B6749C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10F95C-CD75-4434-BE1E-91488F99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6F274F-EC9F-4C56-AE51-65C3AD61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A97F23-D3AE-4B3A-87A2-97E76DEA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24C481-1391-4B55-9942-7CBB6644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3E8A29-E60E-4713-B447-880AAAAC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Errores comunes y correcciones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D21FFB-22B8-422F-A3BD-8C75381D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Estos problemas son ideales para explicar durante la demo si algo falla.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6EA9C9-52D7-457C-854A-760AE8B8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2857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C1019A-55AB-493B-8CFF-BD1F6605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E8BD03-55A5-4C1D-92A0-C3C8163B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813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Modal siempre abierto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F289AE-4D2C-41A3-A4D3-4634AE49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2400300" cy="-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useState(true)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F12721-D04C-4778-BE0E-63413178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90800"/>
            <a:ext cx="4000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4DD67E-CE1C-4F82-8B2A-1868CCFB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9080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73F6E0-45A3-4151-9755-72743BFD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81300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Correccion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8511FD-D8A2-47E6-AA07-3EC4F10B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43250"/>
            <a:ext cx="3543300" cy="-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Iniciar en false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912629-70CF-457F-85B0-8975223A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2857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C6223D-90C8-456C-B562-6E5EBE6F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7ABC89-0210-4B15-8718-E185899B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 cierra en Android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9DD8E7-1EB3-49AC-B4C4-D615FE89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2400300" cy="-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Falta onRequestClose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8214B3-E2E4-49E2-A864-D4193A4A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33750"/>
            <a:ext cx="4000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C5936F-539E-4477-B471-14827ADA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3375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85A2D2-9FB2-4C28-BDAA-88A4B4D1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24250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Correccion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FB6596-8274-47CF-96BF-6346481F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86200"/>
            <a:ext cx="3543300" cy="-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Agregar setModalVisible(false)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03D5B6-9913-4DCF-9CB0-BD8864DF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2857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8A00EF-965D-4D28-868D-B9AE84F1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E9007D-1710-4C94-AF46-0FC26BCF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672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Sheet invisible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372C2A-89B9-4DE1-8AEB-821942F7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400300" cy="-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Sin height o visible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E84E8DC-2149-46B1-97B0-9B99BCC2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76700"/>
            <a:ext cx="4000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78FCD5-2EB4-4D6A-8768-05E77454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7670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92E61F-E161-4C91-8A0B-FFB0AC2C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Correccion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B955DE5-3C06-4702-91EE-99FB6521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29150"/>
            <a:ext cx="3543300" cy="-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Revisar props y estado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AF4BAF-5E53-424C-B5EE-795EF10E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2857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41318F5-250D-476F-B255-E614BC08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2A135F0-3F48-4D71-B71F-8AF6FC19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Animacion no se nota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832DC43-0D88-4044-B567-6287AD06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72100"/>
            <a:ext cx="2400300" cy="-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Propiedad no compatible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E6427D2-F800-44CC-A76F-CEC9607B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19650"/>
            <a:ext cx="4000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213B6CE-93A1-4036-927B-101EF136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1965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1EA0D2E-F8B1-44BA-AABC-FF2FBD4E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010150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Correccion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7E492BC-D2D8-4740-9CA5-98A34A36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372100"/>
            <a:ext cx="3543300" cy="-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Animar transform</a:t>
            </a:r>
          </a:p>
        </p:txBody>
      </p:sp>
    </p:spTree>
    <p:extLst>
      <p:ext uri="{BB962C8B-B14F-4D97-AF65-F5344CB8AC3E}">
        <p14:creationId xmlns:p14="http://schemas.microsoft.com/office/powerpoint/2010/main" val="180714789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4E2337-1368-45A6-A7B6-DD14540C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E4BE4-E8E6-4874-9215-D1762531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B7D42-0E16-4021-AD4F-028A8FAF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29BFC6-858C-4AD8-9B7D-C8D2003A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9772C3-412A-4243-A32D-F8D6C8FA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3CE93-28D9-4792-B388-0E4AD413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950D17-81F1-4527-B9FA-22CEF3D4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FA06BF-7137-43C4-AC74-1C9752B5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4B91F4-88B6-42AB-A0AE-76843D78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B6E31-8F4C-4568-870F-988FF785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1BB077-DF19-4CE3-A02E-17F136C1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746037-18AE-4AB2-92A2-EB66BE5C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DD27B0-2713-49D1-9377-A45AAE4C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C46320-F518-4FFE-BDC1-D695E391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10E95A-E065-40F4-BF21-42F77869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64DD23-0409-44B4-B170-A31DA410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DC9D3D-9278-4EF7-ABF1-1CAE94BF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885D8A-A955-48FA-9D75-5F05D515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8C4843-98C5-4005-AB2A-87AFDA77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6B923C-C00B-4E1A-B4EC-A29619CD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Guion de video de apoyo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BA7380-DCCA-49A3-B470-0CE04288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El video puede durar entre 8 y 12 minutos y sirve como respaldo para la exposicion.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B2317C-A7CF-473E-8232-FF8F99F1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2000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208873-93D9-4FBC-BBA4-4DC1014D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6702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1. Tema y archivo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1AD016-9FCE-4A82-B4BE-E0DB0625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0350"/>
            <a:ext cx="2000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C89E29-ABF9-4219-8E74-4042958F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6702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2. Que es Modal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C513AA-D488-4389-A0C0-21EED14A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00350"/>
            <a:ext cx="2000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9D09FE-EA25-47D7-BCE9-89562AD5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6702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3. Implementar Modal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4CB099-C7BD-420B-A4B2-393B4C65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0350"/>
            <a:ext cx="2000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049937-376A-4D22-828A-FD4D4486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6702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4. Que es Bottom Sheet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5B283F-6EB8-4098-8821-768EB265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2000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A753D6-CCEC-4B32-9A0E-5C070E95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4332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5. Animacion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798ED0-9739-4500-ABAF-58842294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76650"/>
            <a:ext cx="2000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C08B69-3A85-416A-BDAE-78638872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4332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6. State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E1CB3A-2A81-4AA2-98B2-1EC429CA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76650"/>
            <a:ext cx="2000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1B2047-86E6-4C51-91B2-5F192FD2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74332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7. Comparacion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78993B-34CE-4B73-A2F3-44956FDE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2000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3CD16D-6F20-4EEB-99D9-1B353407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4332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8. Cierre</a:t>
            </a:r>
          </a:p>
        </p:txBody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bc36295a9a4af4">
            <a:extLst>
              <a:ext uri="{96DAC541-7B7A-43D3-8B79-37D633B846F1}">
                <asvg:svgBlip xmlns:asvg="http://schemas.microsoft.com/office/drawing/2016/SVG/main" r:embed="R039952fbbb334c8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0" y="3790950"/>
            <a:ext cx="3048000" cy="1714500"/>
          </a:xfrm>
          <a:prstGeom xmlns:a="http://schemas.openxmlformats.org/drawingml/2006/main" prst="roundRect">
            <a:avLst>
              <a:gd name="adj" fmla="val 8889"/>
            </a:avLst>
          </a:prstGeom>
        </p:spPr>
      </p:pic>
    </p:spTree>
    <p:extLst>
      <p:ext uri="{BB962C8B-B14F-4D97-AF65-F5344CB8AC3E}">
        <p14:creationId xmlns:p14="http://schemas.microsoft.com/office/powerpoint/2010/main" val="15709807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2C3358-B902-4DBC-AC37-30500973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5E5F2-48DA-4031-923B-0EF976FF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96AB66-CAA2-4FCE-9BD7-31417CD8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7145F-233C-4AF0-976A-7E4345B2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6BE77-4753-45F3-96C5-D988A7C2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E8E16-3631-47D3-84C9-2FF81743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BC8D1-39D2-4E07-BAE9-EA698FDE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BB63D2-6ECE-4A9E-8B86-EDF77220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D8C6A0-A84A-47CC-9EC3-51C9FE91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A08D0-3535-4BF8-BFE5-6BCF67F7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1BB11D-EA7F-4496-8075-4D59D855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EBADB7-F5A2-4080-BBEC-62468502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AFEA2E-0C5A-4E3F-80E9-C29C900E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661F7F-F673-4F19-9DE1-CF4AA147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75119E-F00A-4982-825D-4C124728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918192-99D9-480F-B8A7-7D2A93D8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64525A-7285-43B7-B80E-A745D4C9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74B95D-9F8F-4AA7-9462-9D7BCB47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060032-E2C0-4C7D-ADEC-117201EC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DC6F7F-BBCD-4EAE-BCCA-57A0A6E1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Preguntas para activar al grupo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4CEAD1-C0BB-4084-AE7B-62DAE4A3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Usalas durante el cierre para verificar que el concepto quedo claro.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EAF8DF-9118-4B91-A45F-9CAD548E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4286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2335E5-46A6-49F7-8573-2FB1D750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D44CA3-2C1E-4751-9AB2-717EF1C4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62250"/>
            <a:ext cx="3829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Pregunta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89E0E4-038C-439E-9724-5E4F08BC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24200"/>
            <a:ext cx="38290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Que prop controla si el Modal aparece?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42E3CA-8FAC-4ABE-AADC-407CD228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71750"/>
            <a:ext cx="4286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021CC1-A44E-4DFF-A891-353DA522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717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22D63F-8500-4D9F-A960-2DC11B85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62250"/>
            <a:ext cx="3829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Pregunta 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9279B2-9529-4105-9250-A7EF0B44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24200"/>
            <a:ext cx="38290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Por que useState y no una variable normal?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17AD5F-5B86-4454-BAC4-B759BD26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4286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C4EBC7-919E-4EFC-92EC-BF9A3D3C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3EE86A-5FBF-480F-99E0-6C97D1EB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3829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Pregunta 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A11E2F-1798-47E3-82B8-CFDC373A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14800"/>
            <a:ext cx="38290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Cuando conviene usar Bottom Sheet?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7C6420-A1AD-4B66-91F6-F9C1254B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562350"/>
            <a:ext cx="4286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E107AD-FDBD-4929-A486-1C192E17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5623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323391-3DFC-4674-9C90-417AEC7A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752850"/>
            <a:ext cx="3829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Pregunta 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ACFCA7-691E-41EA-A932-5952D54F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114800"/>
            <a:ext cx="38290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Por que reiniciamos reservationConfirmed?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FFE0F4-E690-4B37-8C4A-57BF9C69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52950"/>
            <a:ext cx="4286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0C7ADF-A67E-41E2-8414-5E1E4A3B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529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02D869-9BA7-42CC-8FE5-DEC42203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43450"/>
            <a:ext cx="3829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Pregunta 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2756E6-DFFA-4AFF-8606-412E4B11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05400"/>
            <a:ext cx="38290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Que hace onRequestClose en Android?</a:t>
            </a:r>
          </a:p>
        </p:txBody>
      </p:sp>
    </p:spTree>
    <p:extLst>
      <p:ext uri="{BB962C8B-B14F-4D97-AF65-F5344CB8AC3E}">
        <p14:creationId xmlns:p14="http://schemas.microsoft.com/office/powerpoint/2010/main" val="172723600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79D746-F064-4CD0-B56B-A5CFBA62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162F13-A970-4F37-A408-076068FD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A8B6C-9009-44FC-9B86-00FC3F65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B5BD53-2D00-4251-8DE0-D8327E53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A5D5F-4C02-4D34-B044-9173BF98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B064B-C5F0-4ADC-8CC8-E0C24674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A052F6-5AE2-4953-84EA-6796DFF4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F368EC-73B6-40C1-A5BA-634E1098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CE0B93-930C-49CB-9A85-14A79B1A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3C738-4CB0-48AE-A8EC-13614A08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E7A9D7-00D4-4830-AA11-0C1A842B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023939-AED9-4A25-85E5-EB732EF1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CC2DCA-2CE2-4E03-A69C-FA2E30A7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4BE9AA-0489-499F-812C-A11D0F36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CD9069-1062-4E31-A296-9C95D3CE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1862AA-55E6-49AF-B614-863FA52A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F14B72-B1F1-4445-B0FC-E42B47A7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A19FEE-BABB-4742-A085-11EA8E83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C65563-8121-44B6-93D5-252DD958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5D31CE-816D-49DF-A551-7677688B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Como leer esta practica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50E1FB-5655-4BF1-B180-67EC8B7B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La presentacion funciona como mapa de exposicion: concepto, ejemplo visual, props, state, codigo y demo.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5DEF64-8EA1-4CC6-AD26-1AA1B45C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3714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0C4D4D-CE18-4D5E-8506-282A700B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DF80BC-AE72-444A-BD58-705A3902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9560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Concepto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C5D4AB-662D-4A29-AF7C-B4F08D78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Que problema resuelve el patron.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4A475B-DDE6-49C5-9C4E-2E7D4715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05100"/>
            <a:ext cx="3714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B4CBB5-8CB0-47A2-83F1-CDC03506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051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7394C2-67DB-401A-8C27-83CCF229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9560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Visual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15709C-BF51-4046-BAA4-9BF0BC09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575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Como se ve en una app movil.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F4471E-8C2B-4E8D-8E9C-57A885CC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3714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8C2DFE-AE9B-48EF-9F1E-5CF27FD0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813A37-8F74-473C-976A-3F264324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Codigo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10665A-9DBF-4DB2-999F-766D04D0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Como se expresa en React Native.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B11494-C19B-4617-B3AF-88406E8F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905250"/>
            <a:ext cx="3714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6F4B65-BB35-4E31-A1C1-937243B9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9052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1D251E-8154-4474-BCD0-05AB9DF8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9575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111BBA-0E00-4F2E-9FF7-D9A2F70E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577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Que accion realiza el usuario.</a:t>
            </a:r>
          </a:p>
        </p:txBody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b2ac0d46dc4094">
            <a:extLst>
              <a:ext uri="{96DAC541-7B7A-43D3-8B79-37D633B846F1}">
                <asvg:svgBlip xmlns:asvg="http://schemas.microsoft.com/office/drawing/2016/SVG/main" r:embed="R12e71d37008248a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0" y="2857500"/>
            <a:ext cx="2095500" cy="1619250"/>
          </a:xfrm>
          <a:prstGeom xmlns:a="http://schemas.openxmlformats.org/drawingml/2006/main" prst="roundRect">
            <a:avLst>
              <a:gd name="adj" fmla="val 9412"/>
            </a:avLst>
          </a:prstGeom>
        </p:spPr>
      </p:pic>
    </p:spTree>
    <p:extLst>
      <p:ext uri="{BB962C8B-B14F-4D97-AF65-F5344CB8AC3E}">
        <p14:creationId xmlns:p14="http://schemas.microsoft.com/office/powerpoint/2010/main" val="48872276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5949B2-88A1-4D02-B9C7-4AAA036B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4132B-9CFC-4584-AFD7-E87CB0CC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7F760-D98D-46B5-908E-147A2A8A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DF73C-9460-490E-9EDF-41974843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98154B-4B0C-4A9C-B90F-C8FA885B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C63E0-5DC5-45C7-A0FA-7BDB0286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AD62C-EC41-43F5-9D8B-393676A7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764A6-309C-48CF-9929-BD3B9D74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BACCB2-076C-47C1-B7D3-C0BCAD0D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01CA97-E496-417A-89D5-4B18FD66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A36C9C-DEA6-4E77-A924-EF53DC0A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26A89A-BFEC-4AE3-A3F1-16D90580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D7C056-5439-4336-84D3-A1A15B00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35EC16-A2A6-41EB-A4A1-38F78ACC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A94E6C-28B3-4B95-BB62-52D89CFA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E6B047-2C08-4D7C-913D-5BD99883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96ABE4-3F82-43C1-BFFD-B20C3671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9D3C3D-0613-4956-A0E8-6DC40B34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E640D8-3399-495D-866E-CC4C926B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0194CB-9A6B-4C80-97E4-BBB12CB8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Por que no instalar librerias aqui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8FBACA-29BA-4EBB-A6A7-592D6E6C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La practica debe durar 40 minutos. Instalar librerias de gestos y reanimated puede consumir la clase.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D3F65E-4731-449A-95A8-8EB4FC2E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3714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A06161-A9EA-47E3-BA9C-1BD743AF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71EABA-01E8-461E-994C-0F3F8600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9560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Proyecto actual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448286-EB6D-4E8B-86BA-CF68F8CC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No trae @gorhom/bottom-sheet.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A1256C-61F8-419F-AF7B-C747D546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05100"/>
            <a:ext cx="3714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C68EFE-2D9F-4713-89A5-1D38ACF5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051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29E6BD-9B8E-4DB7-8F01-D0017D48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9560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Objetivo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E6ECCD-B2E6-4048-B07B-6C51DC0D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575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Aprender el patron antes de depender de una libreria.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5747CE-32F6-4666-8926-6A66A900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3714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A49F05-AE17-4969-94AC-C09F9AF2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4D34DC-463B-4314-9A64-A9A743EC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Ruta limpia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40EB10-5FA3-43B0-9C02-14BC5395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Modal nativo + Animated.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99EE35-2FFF-4178-99E2-ADB4FCEF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905250"/>
            <a:ext cx="3714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8034B9-C3C8-4249-BF04-113C1187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9052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0EFC59-AC67-45B8-936E-E8B7BB67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9575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Version avanzada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9D622E-AB1B-4BE8-9AB9-70FA7614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577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Gorhom para una segunda practica.</a:t>
            </a:r>
          </a:p>
        </p:txBody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f671e45d654ab1">
            <a:extLst>
              <a:ext uri="{96DAC541-7B7A-43D3-8B79-37D633B846F1}">
                <asvg:svgBlip xmlns:asvg="http://schemas.microsoft.com/office/drawing/2016/SVG/main" r:embed="Rf3b2e135186d45c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0" y="2857500"/>
            <a:ext cx="2095500" cy="1619250"/>
          </a:xfrm>
          <a:prstGeom xmlns:a="http://schemas.openxmlformats.org/drawingml/2006/main" prst="roundRect">
            <a:avLst>
              <a:gd name="adj" fmla="val 9412"/>
            </a:avLst>
          </a:prstGeom>
        </p:spPr>
      </p:pic>
    </p:spTree>
    <p:extLst>
      <p:ext uri="{BB962C8B-B14F-4D97-AF65-F5344CB8AC3E}">
        <p14:creationId xmlns:p14="http://schemas.microsoft.com/office/powerpoint/2010/main" val="117709759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109D83-DDEF-444D-80FD-E74696E9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2CA2B-C89E-41F6-9AEF-0BC57B32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556D07-3B37-4EA7-9CAC-86A69032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972E3A-BDB0-4FD9-B2A4-36259AE2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5BCB1-CF4E-4645-A3C1-94A13C5C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9A0623-0806-4EE1-A6D0-0C5E45F8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50993B-1CBB-4914-9483-E6FF95F4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2CE9FD-0B97-4F33-8048-2275F038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D69AAF-4E7C-4207-8D17-773551B8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16F7A1-789E-4C52-B4D2-C70E3183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53C055-5518-4B07-B945-97C087A0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440DEE-F721-406F-8665-EE62BDDB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8E4564-4BC1-47DA-AB7C-CC480D78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35FE94-F4C4-4EED-905F-CF350CFC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D62260-864C-41B4-BC80-691185F3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039953-16CB-4653-B6BC-807D6287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FA3742-D049-45BC-A378-AD68D238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204559-3AB6-46B5-BF4E-3F9536DD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0A5DC9-A6AD-499D-99F5-D452FEFB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E3375B-99B3-4553-BCE3-4E09DD6F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Modal en apps de chat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DCC4AD-CDF1-41F8-AF80-EEDD2265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En una app tipo mensajeria, un Modal suele aparecer para confirmar borrar un mensaje, reportar un contacto o salir de un grupo.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620575-4145-4B7F-9381-84D772D5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09650"/>
            <a:ext cx="2857500" cy="5048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28575">
            <a:solidFill>
              <a:srgbClr val="33527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149F5B-F900-4EDC-B0DA-B087E5AB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57300"/>
            <a:ext cx="2476500" cy="45529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7751FA-1086-4392-AB39-3585075D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573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72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4F5BEC-49A8-4985-833D-B8325F10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15430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2B0415-8CE3-4180-8F49-6080CFA3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95550"/>
            <a:ext cx="15430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BBF7D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DDC138-22EC-4B96-8976-8017195C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90850"/>
            <a:ext cx="15430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05518A-0A6E-4E86-BB88-C47DE7EF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86150"/>
            <a:ext cx="15430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BBF7D0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F650C8-8556-4034-8595-EABF2680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38700"/>
            <a:ext cx="19431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640CBF-447A-4F2D-BBF9-FB5FB67D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29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72A"/>
                </a:solidFill>
                <a:latin typeface="Aptos"/>
                <a:ea typeface="Aptos"/>
                <a:cs typeface="Aptos"/>
              </a:rPr>
              <a:t>Eliminar mensaje?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6823E2-E2A8-459E-90B1-1E404106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334000"/>
            <a:ext cx="6667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B6B4A3-94DD-4110-80B8-AF455478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334000"/>
            <a:ext cx="6667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4EB8EC-C238-4D7C-BC08-B569AE7A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F7D1E5-AC48-4D09-91BC-2FB93D65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E5648F-2E9D-44A2-8D80-E98FC58D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337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Eliminar mensaje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32993A-E093-48A2-BDC6-6E3B95E5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95650"/>
            <a:ext cx="2400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Ejemplo visual del patron.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1EE58D-E27C-4567-96EC-9E538227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4320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0A287E-1C65-4F4D-99DC-592878A5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432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B72EF8-4D9F-4D17-BDB4-861C10FC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337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Bloquear contacto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583498-7EA7-45E6-97AD-BD1F82AB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95650"/>
            <a:ext cx="2400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Ejemplo visual del patron.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E8DEFA-6B1C-4F87-B3BF-2D54B0E7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7897EE1-B31A-4146-8DD5-7EB05E48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7CD355-163A-42AD-BD86-6A75D371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Salir del grupo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FA9F0B-B95C-4F36-9422-0CC52F0A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86250"/>
            <a:ext cx="2400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Ejemplo visual del patron.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82E634-481B-4CDF-A1CB-F33C7B8A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769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6F86A6"/>
                </a:solidFill>
                <a:latin typeface="Aptos"/>
                <a:ea typeface="Aptos"/>
                <a:cs typeface="Aptos"/>
              </a:rPr>
              <a:t>Mockup generico inspirado en patrones populares, sin logos ni pantallas oficiales.</a:t>
            </a:r>
          </a:p>
        </p:txBody>
      </p:sp>
    </p:spTree>
    <p:extLst>
      <p:ext uri="{BB962C8B-B14F-4D97-AF65-F5344CB8AC3E}">
        <p14:creationId xmlns:p14="http://schemas.microsoft.com/office/powerpoint/2010/main" val="135889435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16BC70-1141-4D38-832B-62FC3183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EF3739-B0E6-4F44-A3DD-0E3857AC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5E3D4-ADBD-4375-AF9B-53799846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FA906B-F05C-4E9C-B175-E5DFA166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9AE7B-35AA-4D8B-97F2-B9CE7AE0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0C186-9B58-42F4-96DE-3EA735B2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3C7C1B-2903-4D75-94FA-62311F0A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548FD6-AEDC-480E-B574-6F171D06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202EA-9A9D-402C-9AD1-CBFAC493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91371-53DE-45E3-8F59-C3C640C7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985207-287A-4AA9-835C-0EE96AFC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9E862B-7EA4-46C0-83FB-FB72D5A3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0C9586-C932-4F85-852B-F2ADB284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1D3049-C637-443D-A80D-A46819ED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BD243A-41E8-47D3-920A-CD3C28C2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03F060-B6DF-4721-92AC-CB0A816F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FB0B7C-07B3-4832-A79F-6C0BEEBF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9ACFD5-B0EE-488F-97A3-F4098AC7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396164-9F91-47D7-9D2A-A45BBD14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8E9FE7-A189-4D5C-8117-625285DD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Bottom Sheet en apps sociales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0E42A8-D43B-42F8-8572-010F9AF1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En una app tipo red social, el Bottom Sheet es ideal para compartir, guardar, reportar o abrir opciones de una publicacion.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E00001-F311-4B53-A608-A5641356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09650"/>
            <a:ext cx="2857500" cy="5048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28575">
            <a:solidFill>
              <a:srgbClr val="33527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884D86-2B68-4557-ADC4-6532E3C8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57300"/>
            <a:ext cx="2476500" cy="45529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E05C01-E296-47B8-89C1-5396EDC9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573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72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9A2595-1BA9-4A9A-B52F-1D1719A4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43100"/>
            <a:ext cx="20574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53CDF9-FCE4-4C36-8342-73B4B2D0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00500"/>
            <a:ext cx="24765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C36950-BAA4-4F28-815B-CEC10642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05300"/>
            <a:ext cx="2019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00F6A7-9CF1-47E3-B458-082A3962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8150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Compartir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22251A-5F63-4117-957F-82A2143E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43450"/>
            <a:ext cx="2019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FFFA4A-589B-46CC-BD38-F9631DDA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1965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72A"/>
                </a:solidFill>
                <a:latin typeface="Aptos"/>
                <a:ea typeface="Aptos"/>
                <a:cs typeface="Aptos"/>
              </a:rPr>
              <a:t>Guardar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4C0EAB-6772-40F1-837F-314D66BB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81600"/>
            <a:ext cx="2019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80FFE5-F45D-4220-83A9-5654EDFB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5780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72A"/>
                </a:solidFill>
                <a:latin typeface="Aptos"/>
                <a:ea typeface="Aptos"/>
                <a:cs typeface="Aptos"/>
              </a:rPr>
              <a:t>Reportar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86C561-351B-4D36-8436-70A37EE2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014C0E-6ED3-4C27-ABCC-C1F3647B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4A171F-A8E0-4175-BB7B-2272F4C6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337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Compartir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75A79B-348F-4826-9EEF-25E0BD02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95650"/>
            <a:ext cx="2400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Ejemplo visual del patron.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D5D2B1-6C8B-4840-85A2-34574528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4320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C42014-3819-48FD-8615-284102BD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432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4A5121-FFAF-49B7-B042-E3798E65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337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Guardar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F50745-A089-48A0-A360-7E56798E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95650"/>
            <a:ext cx="2400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Ejemplo visual del patron.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5A8E39-DF1C-4B9C-83C9-9C550D8C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8F5E8F-C386-430D-8C38-F3323AB7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66B0A3-797B-4BC0-91FC-8CE3855C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Reportar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DA84CE-0E1A-4B90-A809-ECA88893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86250"/>
            <a:ext cx="2400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Ejemplo visual del patron.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DF5361B-1613-496A-B240-5C0F3BE5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769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6F86A6"/>
                </a:solidFill>
                <a:latin typeface="Aptos"/>
                <a:ea typeface="Aptos"/>
                <a:cs typeface="Aptos"/>
              </a:rPr>
              <a:t>Mockup generico inspirado en patrones populares, sin logos ni pantallas oficiales.</a:t>
            </a:r>
          </a:p>
        </p:txBody>
      </p:sp>
    </p:spTree>
    <p:extLst>
      <p:ext uri="{BB962C8B-B14F-4D97-AF65-F5344CB8AC3E}">
        <p14:creationId xmlns:p14="http://schemas.microsoft.com/office/powerpoint/2010/main" val="128349381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6727C3-FBB0-43A9-8FCD-457FA122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FE476E-5BEE-4365-8477-AA095486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6B1CA1-D72B-4EDD-96AE-86AAD24D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FB06F-1321-40BA-B1C1-D59B4ECB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E9253-D7C1-4DDF-84A1-EBFD4B2E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07087-9BD3-4F6D-8FF3-EF423B7C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F051D7-5769-405A-B29F-420BFA98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3EDFB-3248-4B42-935B-5DB43355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F7B9B-228F-48AA-8284-93A716D0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CBF588-8F6C-4F40-ACE9-F167B49F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EC04BB-5597-4D19-B811-0450CAB8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CD002B-6FCB-4561-B4C8-780E7848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859589-8B39-46CC-B261-3223952A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A06A21-FCF3-40BC-888B-063F7ABB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E9AF03-0A7B-4E6F-9E3A-F78E2900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4F8108-BD39-4F6F-9F47-D6AC5A84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624080-0DF8-45C4-B12A-339052B6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1300AC-E20F-4C40-9ECE-33BB0291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355C58-747F-433A-933F-D907DCCD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EFD9BE-AB4E-4773-BCC3-78DF693C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Bottom Sheet en e-commerce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8F8AB0-9439-47EE-8CD0-D1B353E3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El panel inferior permite elegir talla, cantidad, envio o metodo de pago sin abandonar el producto.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AB1AAD-B899-457E-9975-E3E7620E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09650"/>
            <a:ext cx="2857500" cy="5048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28575">
            <a:solidFill>
              <a:srgbClr val="33527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C09B3E-95BD-4F58-A76F-CBD10239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57300"/>
            <a:ext cx="2476500" cy="45529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F19362-5E0F-4CDA-AC51-05B2F7AC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573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72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D7BE61-90AC-46B5-BC24-9F507BAE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1943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1432EC-9E31-4885-B632-DC066AAC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76700"/>
            <a:ext cx="2476500" cy="1733550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CEBCE6-F4D1-45BF-847D-A36F89EC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52950"/>
            <a:ext cx="4191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80A1FC-B13D-4FF1-9FC4-A7B5BC4B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386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72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A3924A-E40E-4A4E-8819-F6CC9B9B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52950"/>
            <a:ext cx="4191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DB655F-B82D-4D15-B8AB-D72E2447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6386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6F6962-A518-4F15-BE36-DDADF098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552950"/>
            <a:ext cx="4191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547289-53B3-4295-8BA6-9C22EA68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6386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72A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8E29CC-6D71-47BD-B952-89D0A30B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124450"/>
            <a:ext cx="1828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E85268-1A64-4D49-8847-786A7E56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20D7C2-3D30-485E-8852-1E88C97A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30EAEF-E80E-4070-977B-8BAFC14F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337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Talla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5697EA-B02B-46AA-AC2C-10B7A054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95650"/>
            <a:ext cx="2400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Ejemplo visual del patron.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1EE986-EB12-4090-8235-7633D954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4320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2F50F0-2CF1-442B-9DE8-827FF2FA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432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F8E0C1-8860-4952-ADEB-5030988D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337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Cantidad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09DBBD-6066-4CD0-A983-9BB51FB9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95650"/>
            <a:ext cx="2400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Ejemplo visual del patron.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EF7EBC-1FEF-4641-B51C-46C8336E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23C47B-DF41-4710-BFF3-70356E2D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5F380B-FBAB-484D-AAA0-153167C1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Envio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E54BE6-3280-4090-AFB2-B138022C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86250"/>
            <a:ext cx="2400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Ejemplo visual del patron.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9AB2C06-5AA3-4E52-BCD0-940364DE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73380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97D4F72-91C0-478C-A682-1892A8DF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7338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638920-DE47-4687-BC58-C46C493F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243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Pago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D6E3E2A-3E03-4D2D-A95A-7858607B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86250"/>
            <a:ext cx="2400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Ejemplo visual del patron.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226E3B-A0E9-46CD-97D5-F1DFE7A0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769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6F86A6"/>
                </a:solidFill>
                <a:latin typeface="Aptos"/>
                <a:ea typeface="Aptos"/>
                <a:cs typeface="Aptos"/>
              </a:rPr>
              <a:t>Mockup generico inspirado en patrones populares, sin logos ni pantallas oficiales.</a:t>
            </a:r>
          </a:p>
        </p:txBody>
      </p:sp>
    </p:spTree>
    <p:extLst>
      <p:ext uri="{BB962C8B-B14F-4D97-AF65-F5344CB8AC3E}">
        <p14:creationId xmlns:p14="http://schemas.microsoft.com/office/powerpoint/2010/main" val="155546380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244A52-15E5-49B5-AF91-98BCD4DB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DB77E-6D3D-44B1-986A-C698836F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43D34-B916-484E-AB66-54405E71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9AA594-14D8-4710-82C5-4F085B67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A81C6-9A8F-4CC2-B1E3-3596B573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BD2A3-9981-4CFD-8610-FD44F287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F551A-D895-4811-BC5F-2E607B62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07610-CD61-4441-9E98-B1E637A9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C0C302-A0E2-40FE-B373-E058A66A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235542-DC24-4C1C-B00C-7DA0C553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1A5A5-F314-464B-AC38-CF02B1A7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462F4D-0EC5-4130-AED7-057B6762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730E2D-D25C-42C5-9B46-64C4684A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96BDC2-D160-4484-A3F7-008B335F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361F38-7AA4-4594-8FBE-72ED616D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6495F2-87C4-45CE-82EE-0B86FD44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5412E4-B40E-4249-8FAB-80D5ED45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DF98AF-4C9F-4E28-B306-012033DC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C69761-B5A6-474A-BCA8-F0ABAD33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F04AF7-3E96-4663-B80A-6DE827FC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Bottom Sheet en mapas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257701-1AC3-44F2-A565-09B51306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Las apps de mapas lo usan para mostrar detalles de un lugar mientras el mapa sigue visible atras.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F60031-F791-46E4-9460-23D71076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09650"/>
            <a:ext cx="2857500" cy="5048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28575">
            <a:solidFill>
              <a:srgbClr val="33527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3D22FA-D534-47E2-9E38-83BE6D2A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57300"/>
            <a:ext cx="2476500" cy="45529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D97887-C8A2-4DA7-8049-5AAC0447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573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72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554BB4-D388-4DBC-AD82-2F04E2F8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52600"/>
            <a:ext cx="123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AAEE25-3DED-4A4E-AEDE-E85EDE1C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52600"/>
            <a:ext cx="123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BF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572CFD-78D8-4503-A8B0-3F0D41DE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57500"/>
            <a:ext cx="123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9EAE33-F176-406A-B10F-F809F1CA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57500"/>
            <a:ext cx="123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A3363F-1ABF-435E-A5C0-D9566D84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030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F9673C-8F38-44DC-86B0-AAD8644F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86250"/>
            <a:ext cx="24765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94A622-9EF0-40B6-8BDF-03261C6F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7200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72A"/>
                </a:solidFill>
                <a:latin typeface="Aptos"/>
                <a:ea typeface="Aptos"/>
                <a:cs typeface="Aptos"/>
              </a:rPr>
              <a:t>Lugar cercano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072B33-76A5-4D02-BAE1-E8507959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24450"/>
            <a:ext cx="19431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ECBEFC-2BA3-40FE-97E7-3011EA31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0FA957-E8AE-4939-AD57-F1F28998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618BFB-70FA-4AB7-B8CB-1CF1429A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337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239049-6638-4B81-B5A9-EF315748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95650"/>
            <a:ext cx="2400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Ejemplo visual del patron.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F7F849-8D2C-4D7F-9DC4-20831543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4320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D68BA9-188A-4B7C-9D8B-4C0F7FD2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432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B4AE91-8246-432C-949F-4A685EDA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337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Horario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2A87E3-4308-423B-AC1F-CA0410D1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95650"/>
            <a:ext cx="2400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Ejemplo visual del patron.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BA2BBE-1CDB-49BC-A73A-C4C220B1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6EC444-6DA1-4AAA-82AF-499DD885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772AA9-D20E-4D8B-A477-86692064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Calificacion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ACAA77C-8B61-490B-A467-06B084FE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86250"/>
            <a:ext cx="2400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Ejemplo visual del patron.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B9A629-6645-49E1-BDE1-A01693F6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73380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4BD681D-B459-4C6C-ACD3-4FC0F68E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7338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65D282E-5E34-433A-B4BE-A011928C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243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Guardar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0674A89-56B0-496C-8C8A-12271640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86250"/>
            <a:ext cx="2400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Ejemplo visual del patron.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B94DAD4-C439-4929-8B4E-88DA9352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769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6F86A6"/>
                </a:solidFill>
                <a:latin typeface="Aptos"/>
                <a:ea typeface="Aptos"/>
                <a:cs typeface="Aptos"/>
              </a:rPr>
              <a:t>Mockup generico inspirado en patrones populares, sin logos ni pantallas oficiales.</a:t>
            </a:r>
          </a:p>
        </p:txBody>
      </p:sp>
    </p:spTree>
    <p:extLst>
      <p:ext uri="{BB962C8B-B14F-4D97-AF65-F5344CB8AC3E}">
        <p14:creationId xmlns:p14="http://schemas.microsoft.com/office/powerpoint/2010/main" val="49872642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167948-A104-4CC5-BD66-704404C8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6592A-34D1-4722-B947-1901D4DB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B3ECFD-6D22-42E6-BCB9-2097145C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97B17-CE42-47F2-9522-A66EA444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5EBA1-384F-414C-BA2D-EACC7F98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24BD8A-8FBC-4596-818D-43B48A89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C28B0-0253-4DF0-902A-80913471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93518-A32B-4030-A87D-2C51A0DE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B0B980-5D6A-4CE6-A4CF-67BF6590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614CC3-52C6-433A-AE77-3071D92C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067116-9DBD-4D0F-8326-574B09EF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AA610F-53AF-47DF-88D0-B70D2373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B2F707-24E4-468A-8E79-FC4B640A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00CFC3-2C97-4FD2-9EF8-01D823AA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71CB4A-7823-4B74-A5B3-F129D9DC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ECBFF1-EF6F-4140-8772-7EB1D8E0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C371F7-7D94-4663-96D0-54881538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7CA811-2213-4CE5-95F7-671621EA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A624DD-93BB-4338-AA0B-BD72C97D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80D2A4-5BC2-4248-BF37-09A3483A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Modal en banca movil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B3AE3A-38B3-4F46-BF00-C9DCC0B1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Cuando una accion es sensible, como confirmar una transferencia, un Modal obliga a revisar antes de continuar.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144D9D-184F-4B0E-AB0F-0D375627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09650"/>
            <a:ext cx="2857500" cy="5048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28575">
            <a:solidFill>
              <a:srgbClr val="33527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727CBA-D4F6-43F5-97CE-7CC30AA9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57300"/>
            <a:ext cx="2476500" cy="45529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F40B4E-2853-411A-841C-38432FFB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573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72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D7CC23-16EE-46F7-B1C5-7A4FDBBD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1981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8AD5F2-5FBF-4EBA-BE74-2131D8B3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95550"/>
            <a:ext cx="1981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32B343-CC20-448F-8082-A9F68508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90850"/>
            <a:ext cx="1981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6E5FA1-4A62-49B8-B04E-BF09520C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48200"/>
            <a:ext cx="19431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C880A2-9633-42AD-A73E-1CD39A81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768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72A"/>
                </a:solidFill>
                <a:latin typeface="Aptos"/>
                <a:ea typeface="Aptos"/>
                <a:cs typeface="Aptos"/>
              </a:rPr>
              <a:t>Confirmar transferencia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E8538F-82B8-4D91-B286-4C0021AE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257800"/>
            <a:ext cx="14859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A99B55-DD17-4D50-B55F-EE25F4AC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5C028B-9D16-40A3-AC34-D781F28B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CD0137-9D2F-4E77-9F07-A6A51B7E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337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Monto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53D066-5893-4C6B-94C7-733108F3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95650"/>
            <a:ext cx="2400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Ejemplo visual del patron.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48331E-011C-4CFD-90B1-8B42E261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4320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51A825-6C54-4C29-B405-1F08A352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432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32CE1F-3894-4A71-B2DA-556F4C41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337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Destino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29C929-D737-4303-8FD3-DBC5B797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95650"/>
            <a:ext cx="2400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Ejemplo visual del patron.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EC1174-72B1-43BE-954C-DBC3B930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E7AC2B-C17A-4428-94AC-21CFABA6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7D5520-50B7-4FC3-AEF5-93A3087E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Confirmar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50E008-F6DD-4F0B-A748-FB4E87FF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86250"/>
            <a:ext cx="2400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Ejemplo visual del patron.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33D0A5-B5F8-4667-96EF-B75EEFBF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73380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01B2A72-E181-4EE8-9E2C-1841872F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7338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34A2B7F-9B19-498F-8876-A7A544F5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243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Cancelar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4B9FF2-7515-4486-BBEB-45BCADF1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86250"/>
            <a:ext cx="2400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Ejemplo visual del patron.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02F977C-95D1-409C-9CF5-CC93B0F1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769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6F86A6"/>
                </a:solidFill>
                <a:latin typeface="Aptos"/>
                <a:ea typeface="Aptos"/>
                <a:cs typeface="Aptos"/>
              </a:rPr>
              <a:t>Mockup generico inspirado en patrones populares, sin logos ni pantallas oficiales.</a:t>
            </a:r>
          </a:p>
        </p:txBody>
      </p:sp>
    </p:spTree>
    <p:extLst>
      <p:ext uri="{BB962C8B-B14F-4D97-AF65-F5344CB8AC3E}">
        <p14:creationId xmlns:p14="http://schemas.microsoft.com/office/powerpoint/2010/main" val="210495627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7B2421-174D-4DB6-9CE4-79C506CA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CB87B6-CE7B-46E8-AC52-68E6FFC0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51643-9947-4193-BE8C-E42D0EC2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AB71E-AA79-43E7-B4D9-37F170B6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129CD-0B67-41D0-BD17-337C41F3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2072D-8F21-4867-A8BE-4B73E13D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45F0A-5D1E-41A2-9442-3941CBC6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8CDB1-9AD4-49E9-BF9D-38217724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483042-C622-4B3F-8F07-E1CD3CA7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FBAC33-4655-4548-B249-FF946809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E2BA8C-7436-4B87-BD3D-71632E98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A717F6-E044-47AF-9C64-34CA3574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B2EC7C-824D-4240-A550-D7DE71F3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440370-56BC-45B2-8B59-6C5F2453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CABEDC-D425-4C21-8A3A-2CF85B57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BA6A40-62C7-484E-B22F-0A8974C7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9C2166-DD0C-414B-A8E1-14A47749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CDB399-7205-420C-98A1-C51B4BEF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CF5C2A-A9DF-48D1-9865-7E51B81D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E66FE6-6E8A-4F7B-B7A8-E11072A7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WhatsApp: Modal para eliminar mensaje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6223B7-7C7B-420F-BB6B-92CEFC12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En una app de mensajeria como WhatsApp, un Modal ayuda a confirmar acciones delicadas: eliminar, bloquear o reportar.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312EE9-10CF-4269-92A0-CE21338B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990600"/>
            <a:ext cx="3143250" cy="510540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28575">
            <a:solidFill>
              <a:srgbClr val="33527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DCFB9B-4F0B-450D-B24D-2E353181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238250"/>
            <a:ext cx="2762250" cy="46101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566521-7D80-4724-A2A8-7AFCFD6D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238250"/>
            <a:ext cx="276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72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03DD32-5DE0-4FCD-BDE3-EFF4334D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81200"/>
            <a:ext cx="1828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C5F99C-DE25-4050-92A4-9472E70B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76500"/>
            <a:ext cx="1828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BBF7D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CAA838-CECA-4BE0-B7D9-0E58A963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1828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24E085-84D2-485D-A4D2-1A15D2C3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67100"/>
            <a:ext cx="1828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BBF7D0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711310-30A9-41F9-A810-C4541332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76800"/>
            <a:ext cx="22288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B69EE0-EC38-4373-910F-6E228D2C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673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72A"/>
                </a:solidFill>
                <a:latin typeface="Aptos"/>
                <a:ea typeface="Aptos"/>
                <a:cs typeface="Aptos"/>
              </a:rPr>
              <a:t>Eliminar mensaje?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30BA5B-92CB-4850-9388-650538BD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372100"/>
            <a:ext cx="6667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715F2A-9367-4CB7-9E97-B2FD676A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372100"/>
            <a:ext cx="6667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677C72-E204-4086-BD6C-7A6739F4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257300"/>
            <a:ext cx="2381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D1A2C"/>
          </a:solidFill>
          <a:ln xmlns:a="http://schemas.openxmlformats.org/drawingml/2006/main" w="9525">
            <a:solidFill>
              <a:srgbClr val="244360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6326C6-72BB-495F-AE67-A278AA62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3525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E09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5E09B"/>
                </a:solidFill>
                <a:latin typeface="Aptos"/>
                <a:ea typeface="Aptos"/>
                <a:cs typeface="Aptos"/>
              </a:rPr>
              <a:t>WhatsApp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C66356-EECE-4E9F-B48D-EAE4F060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37160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B2CC"/>
                </a:solidFill>
                <a:latin typeface="Aptos"/>
                <a:ea typeface="Aptos"/>
                <a:cs typeface="Aptos"/>
              </a:rPr>
              <a:t>Modal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66ACA9-D48E-4961-8430-2C8BD9A8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27813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91CF30-0431-49F5-80A4-8985C581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7E30B9-F628-4A01-8CE5-38AF0B59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Eliminar para mi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C12B4D-E973-4240-92F6-DDAB0FC9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29000"/>
            <a:ext cx="23241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Ejemplo aplicado en WhatsApp.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4A90AB-018A-4528-933C-78AB13FD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76550"/>
            <a:ext cx="27813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773791-9308-4CA1-A147-402DF50B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765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798A90-60AC-4E23-8050-E9B2A0DC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670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Eliminar para todos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F272AF-48F8-440C-8745-607DB4E3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29000"/>
            <a:ext cx="23241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Ejemplo aplicado en WhatsApp.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557221-25B8-4790-879F-A106E470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27813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150462-385F-40A6-BE40-1A4E6186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1ED1791-7A84-4654-AAE7-30F14042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Cancelar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037F046-20FB-417A-9D11-724ACBE1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81500"/>
            <a:ext cx="23241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Ejemplo aplicado en WhatsApp.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5EBFBFC-5E46-4DCE-9D93-A12A05C5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59245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8FEEF72-E5BE-4896-9E0C-59303A36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4E4D056-5702-438A-B10D-55DB63A4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0065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Nota para presentar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5A39F7F-EBC3-4937-BCE6-F4E0C037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62600"/>
            <a:ext cx="54673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Recreacion educativa inspirada en patrones comunes de WhatsApp; no es captura oficial ni usa logos.</a:t>
            </a:r>
          </a:p>
        </p:txBody>
      </p:sp>
    </p:spTree>
    <p:extLst>
      <p:ext uri="{BB962C8B-B14F-4D97-AF65-F5344CB8AC3E}">
        <p14:creationId xmlns:p14="http://schemas.microsoft.com/office/powerpoint/2010/main" val="163697587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84EEA6-03F5-4939-821D-6A393A02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36CBF5-E52D-4FAE-AF4D-836123B6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BD1AC8-73F4-48B1-999D-8E239A38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F0F30-D261-4E24-B672-7C50A6B7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00639E-BE1D-4E04-8514-67BB4018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137CC-E29F-4D7E-B128-8DE7F927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6621D-B1F9-4537-BEC1-360B155C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D521F7-3383-48FE-B72C-5BB370B0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B809A-2BF9-4DBD-A0D6-9018057D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5CB0F-7EEB-4A7A-B5D6-DA96236B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48FBC7-9C24-4209-8591-DB956D42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ABC141-069D-47A0-A0CF-46C66387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4934BE-D6A2-4BEB-875B-B7238EE0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8677EA-A55F-474E-A270-1302A391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0FC7A2-09F4-4070-B7D0-14C8821C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5FEDA3-7F44-4087-84D4-62223BEF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658212-B12D-4B87-93B3-F1AC1B23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951F82-6FE0-4307-8084-485EEB0D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E5AF60-D793-4967-9C98-EA61FFA9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5A188A-D966-4449-BB7C-E00F4CD3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Instagram: Bottom Sheet de opciones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EF6D9B-FBC8-4BEF-8399-23D8B5C2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En una red social como Instagram, el Bottom Sheet aparece para compartir, guardar, reportar o abrir acciones de una publicacion.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817E37-454B-4B7B-8F97-225A2228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990600"/>
            <a:ext cx="3143250" cy="510540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28575">
            <a:solidFill>
              <a:srgbClr val="33527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AFD3EE-9CFB-457E-9D31-BBEDA815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238250"/>
            <a:ext cx="2762250" cy="46101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8778D3-B3EF-4859-B60B-56D11FFA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238250"/>
            <a:ext cx="276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72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03258F-5AA6-4915-9A82-63A2EC16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24050"/>
            <a:ext cx="2343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CFA519-4E2F-4DCF-8D03-ED56CA4F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38600"/>
            <a:ext cx="2762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031598-1F35-401C-84DB-18A406AF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23050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76F8F5-99B5-4D39-AD4F-F45E8857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1960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Compartir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B9AB5E-2054-4518-B1D0-AC2B1AFD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81550"/>
            <a:ext cx="23050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B4798F-5C2F-420B-A361-CEFCB910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577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72A"/>
                </a:solidFill>
                <a:latin typeface="Aptos"/>
                <a:ea typeface="Aptos"/>
                <a:cs typeface="Aptos"/>
              </a:rPr>
              <a:t>Guardar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CBF7CA-6855-49BE-A590-4BF4F120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19700"/>
            <a:ext cx="23050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2CE078-B877-4F47-A362-2A07EEFB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9590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72A"/>
                </a:solidFill>
                <a:latin typeface="Aptos"/>
                <a:ea typeface="Aptos"/>
                <a:cs typeface="Aptos"/>
              </a:rPr>
              <a:t>Reportar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8A752F-2B7F-4E95-9567-7D595CAD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257300"/>
            <a:ext cx="2381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D1A2C"/>
          </a:solidFill>
          <a:ln xmlns:a="http://schemas.openxmlformats.org/drawingml/2006/main" w="9525">
            <a:solidFill>
              <a:srgbClr val="244360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C004BC-8B87-4101-8B67-FEE494C4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3525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5FA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5FA2"/>
                </a:solidFill>
                <a:latin typeface="Aptos"/>
                <a:ea typeface="Aptos"/>
                <a:cs typeface="Aptos"/>
              </a:rPr>
              <a:t>Instagram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B3038B-07A5-4AC8-AD62-F5A51B8D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37160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B2CC"/>
                </a:solidFill>
                <a:latin typeface="Aptos"/>
                <a:ea typeface="Aptos"/>
                <a:cs typeface="Aptos"/>
              </a:rPr>
              <a:t>Sheet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C3FC17-BA4D-45C8-B3F9-2E1EC309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27813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A3DAC5-F2AB-45D9-9DAE-0FC54784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57D183-C553-4DD5-BF91-7110C512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Compartir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6C627D-AB9C-400C-9754-C658FFA2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29000"/>
            <a:ext cx="23241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Ejemplo aplicado en Instagram.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A9407B-75AF-4654-9252-CE836C06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76550"/>
            <a:ext cx="27813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4A4BFE-6114-48D3-AA24-C5AEEFFE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765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5CCA998-E820-460E-9FCF-EE745758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670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Guardar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5350B5-CC4D-4659-BC29-B8DEE936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29000"/>
            <a:ext cx="23241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Ejemplo aplicado en Instagram.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9BBF950-B28F-4E33-96D0-AC22C77E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27813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63A8892-77D2-4CCC-824A-AF4FA27E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09CBB9A-2DC3-481C-B813-E7A4B599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Reportar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104BB3B-0133-444B-A0EC-44A4B10E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81500"/>
            <a:ext cx="23241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Ejemplo aplicado en Instagram.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97A6007-974F-4718-B1CC-42ECD554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59245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D6FD621-DAEF-4055-A991-B6442B52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B9AC522-0E7D-4B8E-838A-3141308F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0065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Nota para presentar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EA69A3A-1BCC-42B8-BB73-A6CB3F94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62600"/>
            <a:ext cx="54673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Recreacion educativa inspirada en patrones comunes de Instagram; no es captura oficial ni usa logos.</a:t>
            </a:r>
          </a:p>
        </p:txBody>
      </p:sp>
    </p:spTree>
    <p:extLst>
      <p:ext uri="{BB962C8B-B14F-4D97-AF65-F5344CB8AC3E}">
        <p14:creationId xmlns:p14="http://schemas.microsoft.com/office/powerpoint/2010/main" val="176401457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CC0EB4-C203-482E-96C3-669C2AB9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CEE944-C1C5-41B8-8517-C6752D69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1873D-35AF-47A1-9773-77AFC1BA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AF729-8548-4AD0-9365-C17D8522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BAD66-945F-477D-A1E4-AE691C57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F9A1A-71B3-4078-966F-32EFFC4B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D1E370-6D5A-48EB-9D36-D3B89B9B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1F7581-90BE-47BB-A0EB-64483D5E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A3377-9734-46C0-90ED-7E759944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09A260-6BC6-4E53-8B09-ACF49EA3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A9DE4E-5C06-4DF7-8A43-5F32C941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162E23-382A-4718-8F61-AD5D1B7B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AD481A-F9C9-4528-B5ED-F8EDD2ED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7F3E15-55E6-4CF3-82C4-7C386219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B419C4-0942-4C06-9788-4E1EC3A4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5D6EAA-705C-4C2A-B5D7-528CACAA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8127A1-4162-4F31-A516-FF3B32BB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F50FBA-C645-467F-846E-E4C4AC17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F938A8-D8B5-488C-B157-DD44218A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401BDC-706D-4927-A9AF-12CEDB59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TikTok: acciones rapidas desde abajo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E9F9FD-0343-4CE8-A760-7196A526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En apps de video corto, el panel inferior permite compartir, denunciar, guardar o enviar sin abandonar el contenido.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42D402-6775-4494-85B7-4744394E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990600"/>
            <a:ext cx="3143250" cy="510540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28575">
            <a:solidFill>
              <a:srgbClr val="33527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C9950E-2657-40FA-A38C-DAC1A8E2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238250"/>
            <a:ext cx="2762250" cy="46101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100B56-C185-4358-9E8C-8A1AAEF4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238250"/>
            <a:ext cx="276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72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9C19F8-8543-45B4-B21D-EFE36E70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24050"/>
            <a:ext cx="2343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7B6090-A58D-422E-A692-1ABDC0B8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38600"/>
            <a:ext cx="2762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E647FF-1AE4-4AF8-9474-7C4BCBD9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23050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C01141-A0B8-492A-916A-72EB7D0F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1960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Compartir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CF8987-756D-41A4-8ADB-1D175B9E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81550"/>
            <a:ext cx="23050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025775-79D0-401D-BA1B-5AF772EF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577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72A"/>
                </a:solidFill>
                <a:latin typeface="Aptos"/>
                <a:ea typeface="Aptos"/>
                <a:cs typeface="Aptos"/>
              </a:rPr>
              <a:t>Guardar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5CDA12-9EA2-4D4F-B5E1-BCDBE030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19700"/>
            <a:ext cx="23050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428DCA-57A4-4162-BD6A-0CF7AD05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9590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72A"/>
                </a:solidFill>
                <a:latin typeface="Aptos"/>
                <a:ea typeface="Aptos"/>
                <a:cs typeface="Aptos"/>
              </a:rPr>
              <a:t>Reportar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4BAEBB-ECE3-4351-9A34-9312D018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257300"/>
            <a:ext cx="2381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D1A2C"/>
          </a:solidFill>
          <a:ln xmlns:a="http://schemas.openxmlformats.org/drawingml/2006/main" w="9525">
            <a:solidFill>
              <a:srgbClr val="244360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2E5C2A-B7D6-43D0-9759-5BFFFCFA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3525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B5CF6"/>
                </a:solidFill>
                <a:latin typeface="Aptos"/>
                <a:ea typeface="Aptos"/>
                <a:cs typeface="Aptos"/>
              </a:rPr>
              <a:t>TikTok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F1893B-6818-4BA5-8BBD-09C37170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37160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B2CC"/>
                </a:solidFill>
                <a:latin typeface="Aptos"/>
                <a:ea typeface="Aptos"/>
                <a:cs typeface="Aptos"/>
              </a:rPr>
              <a:t>Sheet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B6C56E-326E-4583-A075-E575A9DC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27813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F8C8E8-8F76-4D98-96B6-1421894A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0853C2-BC8C-441C-98D3-E497DFEC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Enviar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B2D270-7092-4419-B48C-02EC1FB1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29000"/>
            <a:ext cx="23241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Ejemplo aplicado en TikTok.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E60DC2-E3F6-484F-B68C-F45EC7F3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76550"/>
            <a:ext cx="27813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C10027-8358-4014-91B5-9432C824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765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7DD951-8012-42E5-9439-38B4FDAC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670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Guardar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273F753-8A09-47D6-BD1F-47791AF1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29000"/>
            <a:ext cx="23241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Ejemplo aplicado en TikTok.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999E6E-269D-4752-A943-7CCDD611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27813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D6358D-D0D6-4765-A256-CCD8DEA4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69AFAE2-0E02-4A6A-A14A-81122A61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 me interesa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16D8EA9-4C6B-442B-B95A-9FD24786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81500"/>
            <a:ext cx="23241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Ejemplo aplicado en TikTok.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2240D3E-2E6C-430F-A177-D2E66925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59245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004586A-D7D8-4F65-95D2-226BBF10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0877393-B4EF-4199-B200-3CA1AB26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0065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Nota para presentar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0F80F31-FA39-4AA7-98DB-677716A1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62600"/>
            <a:ext cx="54673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Recreacion educativa inspirada en patrones comunes de TikTok; no es captura oficial ni usa logos.</a:t>
            </a:r>
          </a:p>
        </p:txBody>
      </p:sp>
    </p:spTree>
    <p:extLst>
      <p:ext uri="{BB962C8B-B14F-4D97-AF65-F5344CB8AC3E}">
        <p14:creationId xmlns:p14="http://schemas.microsoft.com/office/powerpoint/2010/main" val="85217803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D7ECEB-E7CC-47F8-9D78-B8EB22CB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B320B-279D-4C7A-97C4-9A82CDFD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BAB24-80D3-4ADD-BF38-7F7C8A07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7B45D-80AF-4B5F-BFDD-EE5AE1B5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151D40-7AC4-46E5-B9D1-74778CC3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AD2A1-3628-46C1-AE9C-CDCFADBA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F5BB3-CF36-4214-8ED0-F4C14444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0609A2-4C59-4D3E-9643-476910E2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43245E-8DC1-40DD-AA5C-19529F17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98154A-5867-410B-92B8-034E12DF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DDA814-C9FA-4722-B65E-E1A7B2DF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6D1A7A-B0AD-4741-92D9-B85D6218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D30F21-8564-4507-810E-AC9695A0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6E5612-8FFE-4948-BFA1-775FAF93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57E3CC-77DE-4F79-BB83-01E5E6C8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F25A69-EB74-43A4-8D97-02D2D212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389605-7915-49DC-9E89-88A90CBB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51FB1E-5D04-45DB-8121-B651DEAE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421AB3-5BDF-4EDA-8DFF-4CF8C63F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9DF319-FEAA-45E1-8E2C-D77B67BC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Google Maps: detalles de un lugar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A90C24-500E-449F-9137-6ED5AC8A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En una app de mapas, el Bottom Sheet mantiene visible el mapa mientras muestra informacion del sitio seleccionado.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010D7F-E68B-4DC7-8783-E1A3EDB9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990600"/>
            <a:ext cx="3143250" cy="510540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28575">
            <a:solidFill>
              <a:srgbClr val="33527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6A5E24-7678-4A78-87C4-A2E1FF44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238250"/>
            <a:ext cx="2762250" cy="46101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585D2F-F599-4C5D-83AC-65FC6E25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238250"/>
            <a:ext cx="276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72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5642CB-D427-438A-83D1-C8714EAB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33550"/>
            <a:ext cx="13811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1F176F-78F0-4B58-AC4D-D3D0980B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733550"/>
            <a:ext cx="13811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BF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35E3CC-BB93-4920-ACE5-2DBE6E9A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38450"/>
            <a:ext cx="13811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68F3CC-3D4E-4388-88E5-50501832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838450"/>
            <a:ext cx="13811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3D5B8A-A1C1-4061-AE36-13815B1F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B48E3A-2C90-4D05-9ECF-DBEB2341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324350"/>
            <a:ext cx="27622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B2C3D8-80B8-41A2-B64B-B0758A84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10100"/>
            <a:ext cx="2228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72A"/>
                </a:solidFill>
                <a:latin typeface="Aptos"/>
                <a:ea typeface="Aptos"/>
                <a:cs typeface="Aptos"/>
              </a:rPr>
              <a:t>Lugar cercano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9B82DC-E10F-4366-AC34-910FB298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62550"/>
            <a:ext cx="2228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48036C-5E39-4EAC-B9EF-6DB92467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257300"/>
            <a:ext cx="2381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D1A2C"/>
          </a:solidFill>
          <a:ln xmlns:a="http://schemas.openxmlformats.org/drawingml/2006/main" w="9525">
            <a:solidFill>
              <a:srgbClr val="244360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0AF860-082F-4014-9407-FFE69D3E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3525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7DF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7DF6"/>
                </a:solidFill>
                <a:latin typeface="Aptos"/>
                <a:ea typeface="Aptos"/>
                <a:cs typeface="Aptos"/>
              </a:rPr>
              <a:t>Google Maps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7295B6-A0A7-4F1B-9318-01122E9C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37160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B2CC"/>
                </a:solidFill>
                <a:latin typeface="Aptos"/>
                <a:ea typeface="Aptos"/>
                <a:cs typeface="Aptos"/>
              </a:rPr>
              <a:t>Sheet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383675-B550-42E8-BC9B-487794D4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27813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26FE5C-429B-4B26-A2B8-EC1322AB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09FD2E-4C71-43A0-8282-FFD7C586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Como llegar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AC5727-97B8-4C9B-B588-0698F7CA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29000"/>
            <a:ext cx="23241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Ejemplo aplicado en Google Maps.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0BA8BB-B555-4552-8097-6E3CF021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76550"/>
            <a:ext cx="27813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96821F-23FA-40E7-92B0-B8DF7136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765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3F923F-57EB-4808-8A66-81EA0AD0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670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Guardar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04E34A-6397-4314-8910-E7B7F788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29000"/>
            <a:ext cx="23241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Ejemplo aplicado en Google Maps.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FCA07CD-5884-4B2C-9E37-188A2968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27813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D4A1CE6-AEDC-4BFF-9947-36ADB6A2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86FC2F-49C8-4F48-88D4-43A39F1C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Compartir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33BF8E5-00D7-4AFD-AD1D-F4934219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81500"/>
            <a:ext cx="23241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Ejemplo aplicado en Google Maps.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2BD2AB3-C9DA-4FB5-AB1B-2A6FA7CB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59245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E32DC3F-0E97-4A78-9A57-1D2C8C9E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9AA587B-5A8C-4415-B09F-17D7E914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0065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Nota para presentar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7F5089F-54CC-47CB-9837-0B5BE126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62600"/>
            <a:ext cx="54673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Recreacion educativa inspirada en patrones comunes de Google Maps; no es captura oficial ni usa logos.</a:t>
            </a:r>
          </a:p>
        </p:txBody>
      </p:sp>
    </p:spTree>
    <p:extLst>
      <p:ext uri="{BB962C8B-B14F-4D97-AF65-F5344CB8AC3E}">
        <p14:creationId xmlns:p14="http://schemas.microsoft.com/office/powerpoint/2010/main" val="104034836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90381B-1AC8-4CFE-A949-BD40B83C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96FC2-B7CC-4444-9891-3DB48518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783F7-103A-4ACC-B0E8-53B3115A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D6A3DE-D068-4D3F-8A2D-F3D941E6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1CD99-72E9-42E8-B89F-900C83CD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97F774-68B8-41EE-A5F7-6A2CEA35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5D303-55D1-43D4-BFB8-65FABB56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34943C-740E-485B-8F3A-38A96D0A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DCC316-1F19-4EFA-A94A-C20AAEAE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883872-7203-4EE3-ACA9-E068C486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52EAE0-E5E7-4D53-822B-4EA483A8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A784F4-9934-4744-897A-AB54662F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B7A709-C0F9-4569-98DF-A7511356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26833A-DE35-4A3A-AB3E-9931BD80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94C7CA-F87A-4963-B0D6-DD174B71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1BF3C0-3379-4E47-B9CF-E7335C36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5EA023-8B3D-40E5-895B-18AAF2FF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246C53-2170-4198-9AB6-771475AD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37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2BD5AF-6F64-442A-8C15-855AA320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6FD297-C199-482D-9701-30945BA3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Amazon: seleccionar variante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21D467-1D67-434C-A9FF-7BA917EA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En e-commerce, el Bottom Sheet permite elegir talla, color, cantidad o envio antes de agregar al carrito.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43685D-1B1D-42B9-8660-CC380F09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990600"/>
            <a:ext cx="3143250" cy="510540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28575">
            <a:solidFill>
              <a:srgbClr val="33527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07B99E-456A-4200-87EE-E8F97BE6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238250"/>
            <a:ext cx="2762250" cy="46101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2BB50E-2CC9-4C3C-95A0-8837DBBE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238250"/>
            <a:ext cx="276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72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DC788A-55E7-4493-86B4-AD3F4BB7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81200"/>
            <a:ext cx="22288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342063-9058-41BD-944A-73E6DAB1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14800"/>
            <a:ext cx="2762250" cy="1733550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ACFA1A-B652-4C67-A23A-90792A05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91050"/>
            <a:ext cx="4191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480FF9-5E00-492A-92F5-19EB9B2F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767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72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CF921A-F5CF-4ED5-91EF-348231C5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91050"/>
            <a:ext cx="4191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555D04-199F-4274-8A41-75A23E88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767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F62C2E-4FEB-445F-9AE7-44B8A2D7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91050"/>
            <a:ext cx="4191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E05B07-EE9D-4873-B6F5-9C9672A2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6767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72A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0DB634-FDDC-4B68-87D2-571DC9EA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62550"/>
            <a:ext cx="2114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D0135D-60B9-4016-A7A9-1E029CAC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257300"/>
            <a:ext cx="2381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D1A2C"/>
          </a:solidFill>
          <a:ln xmlns:a="http://schemas.openxmlformats.org/drawingml/2006/main" w="9525">
            <a:solidFill>
              <a:srgbClr val="244360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5E43C2-CD0E-4C31-8E8B-3B8DD0BF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3525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CF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CF5A"/>
                </a:solidFill>
                <a:latin typeface="Aptos"/>
                <a:ea typeface="Aptos"/>
                <a:cs typeface="Aptos"/>
              </a:rPr>
              <a:t>Amazon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142A2D-EB47-457E-B3D8-9106283B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37160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B2CC"/>
                </a:solidFill>
                <a:latin typeface="Aptos"/>
                <a:ea typeface="Aptos"/>
                <a:cs typeface="Aptos"/>
              </a:rPr>
              <a:t>Sheet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2CF25E-0C9A-46DA-94AC-6FDE1ED2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27813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6FC962-CCE8-48A3-BBF7-97C5F070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E68ADE-FA24-48C8-9301-B38BF5D8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Talla 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040AA5-1AE9-4867-86CE-12F3DFFD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29000"/>
            <a:ext cx="23241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Ejemplo aplicado en Amazon.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0657B9-1465-4FE9-BCDB-0AEB29D8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76550"/>
            <a:ext cx="27813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44C957-25B0-4729-8B08-B2A28552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765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87DA78-2198-4E9B-A838-3F4DDD94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670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Cantidad 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9E861A-96F2-4E6F-8566-70290D27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29000"/>
            <a:ext cx="23241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Ejemplo aplicado en Amazon.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A420238-7494-4D08-A157-FA30EB1E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27813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C55048-77C0-4FC5-8116-5FDC872C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F0BE681-6CF0-406B-B083-6209A085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Agregar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B036CDE-2F8A-488B-A61B-6607CB45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81500"/>
            <a:ext cx="23241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Ejemplo aplicado en Amazon.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926E682-408A-4352-9C8F-C5AF8398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59245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6088EE5-95B6-48FF-881B-8BA060A1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8C51901-315F-4DC8-9C55-D720D11A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0065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Nota para presentar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3D2FECE-66E3-4C28-901A-2D069716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62600"/>
            <a:ext cx="54673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Recreacion educativa inspirada en patrones comunes de Amazon; no es captura oficial ni usa logos.</a:t>
            </a:r>
          </a:p>
        </p:txBody>
      </p:sp>
    </p:spTree>
    <p:extLst>
      <p:ext uri="{BB962C8B-B14F-4D97-AF65-F5344CB8AC3E}">
        <p14:creationId xmlns:p14="http://schemas.microsoft.com/office/powerpoint/2010/main" val="32868895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3D6A48-1845-4B1A-A38F-9F532417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B4B21-DC93-49B5-BBF5-6BF516F7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FC591-F196-4E06-843F-7938095B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FA910-4246-4F54-ACF5-C4D7C187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D338B-D0A1-401B-83E8-7D10340D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5E253-6F09-4F60-8950-409FA749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F5744-DB0B-4CEB-B052-95D58D58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FFAD4A-DE53-42D6-A1E6-C24388C1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3DC9D-9D76-49C8-9DD5-4AB89DDF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C18595-2A2D-47E8-A801-9D4A8C01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8411AC-8F0B-4656-87FF-59F20C8B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84D090-88FE-42A4-A2B5-853C3B29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4DF56D-1CC9-49FB-BA33-D76D2B00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314B16-365C-4FA2-B9F3-52F0831C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8446E8-F97C-464D-8BD6-16C7FF04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DCF91A-CE13-4335-9FD4-F342AEBE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6E14F6-AA29-4639-AACD-AC4148CC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6D3BB4-1CB3-4EC3-B63C-4324AEC7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38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F40585-A969-4191-9D5D-2AAB693A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D83A60-C29F-4BB1-80D6-08B4DF18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Banca movil: Modal de confirmacion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A04101-F471-4E63-B654-97FF78DE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En apps bancarias, el Modal reduce errores al confirmar monto, destinatario y accion antes de ejecutar.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CDA69D-DAB7-4D6C-B52D-D5DD3BAC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990600"/>
            <a:ext cx="3143250" cy="510540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28575">
            <a:solidFill>
              <a:srgbClr val="33527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7868E3-731F-4897-B0F7-A4E06A55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238250"/>
            <a:ext cx="2762250" cy="46101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1FDD08-225B-4CA6-B9A7-F150CBBD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238250"/>
            <a:ext cx="276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72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82228D-5AD1-4272-A657-E6A24C2D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81200"/>
            <a:ext cx="2266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A1E3EA-7102-4FBD-AD8A-AAC46A93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2266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791A7-8526-4629-BA71-4E8E677B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71800"/>
            <a:ext cx="2266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62DA7B-DD66-40A3-BF53-75908C0D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86300"/>
            <a:ext cx="22288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FC9C85-E8E3-4102-9D11-259A6D05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1490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72A"/>
                </a:solidFill>
                <a:latin typeface="Aptos"/>
                <a:ea typeface="Aptos"/>
                <a:cs typeface="Aptos"/>
              </a:rPr>
              <a:t>Confirmar transferencia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74D5B4-C310-4991-BB5C-98E0F8AF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95900"/>
            <a:ext cx="17716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37DBD1-5686-4E06-B158-54CF7862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257300"/>
            <a:ext cx="2381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D1A2C"/>
          </a:solidFill>
          <a:ln xmlns:a="http://schemas.openxmlformats.org/drawingml/2006/main" w="9525">
            <a:solidFill>
              <a:srgbClr val="244360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FD26E1-9698-40D6-8BB4-1B1DAC9B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3525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E09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5E09B"/>
                </a:solidFill>
                <a:latin typeface="Aptos"/>
                <a:ea typeface="Aptos"/>
                <a:cs typeface="Aptos"/>
              </a:rPr>
              <a:t>BBVA / banca movil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EC0DCF-20EA-4228-9E0F-0A388AE8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37160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B2CC"/>
                </a:solidFill>
                <a:latin typeface="Aptos"/>
                <a:ea typeface="Aptos"/>
                <a:cs typeface="Aptos"/>
              </a:rPr>
              <a:t>Modal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827CB8-D39E-4373-8D65-AD736BEC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27813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6DFDA5-C36A-4B53-84BE-2DCC32DD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02010D-0002-4BFA-AC9C-36C120F9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Revisar monto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969A03-9098-4406-95F2-9D39AB28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29000"/>
            <a:ext cx="23241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Ejemplo aplicado en BBVA / banca movil.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EB66FB-5DB0-4BD2-8287-11602FB4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76550"/>
            <a:ext cx="27813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CB8482-7202-4972-8F81-4B7303A9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765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C97787-BB2F-4905-ACF2-56F70FBE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670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Confirmar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DCC3DE-D73A-4D21-AAB3-48637AA5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29000"/>
            <a:ext cx="23241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Ejemplo aplicado en BBVA / banca movil.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FACD38-DF7F-4615-805A-7DF26872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27813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5EB98B-3621-45A9-87E8-D2D56E4F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EE9AE1A-60C9-4519-8EEF-FD25C52D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Cancelar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9FC88A6-6F41-4F35-9902-D4FC7A08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81500"/>
            <a:ext cx="23241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Ejemplo aplicado en BBVA / banca movil.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154AE6-4171-415A-9EB8-9769342F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59245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61E366A-CDEA-4070-BAD9-32BBEAD7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8727B8A-E8C3-44A0-B041-7CCAEF44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0065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Nota para presentar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AD4D4B2-1F92-49F3-AFFA-3A099374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62600"/>
            <a:ext cx="54673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Recreacion educativa inspirada en patrones comunes de BBVA / banca movil; no es captura oficial ni usa logos.</a:t>
            </a:r>
          </a:p>
        </p:txBody>
      </p:sp>
    </p:spTree>
    <p:extLst>
      <p:ext uri="{BB962C8B-B14F-4D97-AF65-F5344CB8AC3E}">
        <p14:creationId xmlns:p14="http://schemas.microsoft.com/office/powerpoint/2010/main" val="56125493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BA6C68-E0D2-4417-957D-51685756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12571-D9EC-4160-9C0C-F28FDE18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6CFA5-2180-453B-BBC6-8F16910F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B482E-FBCF-4140-BB9E-A8632330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475BB-22D1-4674-AF70-A96D31F6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A9F16-885C-4ED3-A319-E17E4077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349C3-857D-4DFA-A611-F61B9D85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3FC3ED-A41F-4340-84BC-614DE4DA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17E2A-2E39-4915-B62C-7E88DA50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FE4FFE-AA81-4679-8901-86B25D8B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1081CD-13A2-46B7-8266-09DEF436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6B951-9A3B-4719-8CE6-1EB8B13B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79E65A-0D5E-4EDD-924B-E9FA4C3F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9612C-55ED-4828-9D02-A8718BEF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5E7AA2-4831-4627-9411-A9CE0FC5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31F3E4-6FFB-4D6E-93A8-9DBE6475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3EDBE9-F45D-4089-8468-FED24622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373AB4-8716-4818-9F14-73251D78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39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0AD288-31BE-4726-8672-CF91C6E4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4FAA3B-A0FA-43CC-929B-B7039D25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Videos/GIFs de internet: criterio de uso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F0E4A4-F028-4AE3-9337-2294D1F9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Se buscaron clips y GIFs de apps populares. Para evitar usar capturas sin permiso, se integran como referencias web y se recrean animaciones educativas en el HTML.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E391AD-13E5-472C-983B-6A6EFBD2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3714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3ED3FE-96C1-4223-A472-E99DACED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7167E8-F2D8-47C3-87DB-3E743AAD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9560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 descargar al PPTX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41E78F-6A3A-4A3D-8A33-FB1906F9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Videos de apps populares suelen ser material de terceros.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3FECE6-BFD5-4720-8125-9C0D89DD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05100"/>
            <a:ext cx="3714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4DC6F9-08DC-4544-BC06-6AA0698E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051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8839B7-19E6-4376-82A4-5C6EE5D2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9560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Usar links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B54389-567B-4835-99EC-FF7C1C32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575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Mejor abrir ejemplos oficiales o de soporte en vivo.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153636-7E06-44B7-9A63-F40775C2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3714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8A86C2-2FAE-40A0-B2E7-985025E2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DC9A4D-D5A6-402E-8BCB-98CFF01A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HTML animado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5BF3C9-F391-43A5-9B80-9C4F5497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La version HTML incluye pantallas que se mueven tipo GIF.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000E9D-5079-4291-BCD0-1352891B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905250"/>
            <a:ext cx="3714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7CE982-B11C-4E0D-ABF7-54FFB0A0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9052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A51E62-5ABD-4841-B9C5-A1B19C1D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9575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PPTX limpio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C35A2C-538A-488D-B5E8-8C63CA6E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577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Mantiene ilustraciones editables y sin material no autorizado.</a:t>
            </a:r>
          </a:p>
        </p:txBody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8f975b0377487a">
            <a:extLst>
              <a:ext uri="{96DAC541-7B7A-43D3-8B79-37D633B846F1}">
                <asvg:svgBlip xmlns:asvg="http://schemas.microsoft.com/office/drawing/2016/SVG/main" r:embed="R796d94d5da6e4ba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0" y="2876550"/>
            <a:ext cx="2095500" cy="1581150"/>
          </a:xfrm>
          <a:prstGeom xmlns:a="http://schemas.openxmlformats.org/drawingml/2006/main" prst="roundRect">
            <a:avLst>
              <a:gd name="adj" fmla="val 9639"/>
            </a:avLst>
          </a:prstGeom>
        </p:spPr>
      </p:pic>
    </p:spTree>
    <p:extLst>
      <p:ext uri="{BB962C8B-B14F-4D97-AF65-F5344CB8AC3E}">
        <p14:creationId xmlns:p14="http://schemas.microsoft.com/office/powerpoint/2010/main" val="17640177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C87729-7DAB-4FDB-BC6D-02DC0E2D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AE72E-13BA-41F7-B913-4E456486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77C75-0AD0-4F14-B2BB-0809F9B8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53163-3E30-4EC2-AC08-D479ED3D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5DF26-3F28-45CD-8725-5392CCAB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D01DA-8C0E-48ED-BC0F-5265FF18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975DF-3496-4277-8B10-F61E4F55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A4E7A3-FCB2-45FD-BAC1-B876FCB0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EE2CED-DD9E-4C85-B0AC-78B0E116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BAC255-4989-47F2-9B36-5016F671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089B8B-2BF4-447E-AD78-3BA6B07C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8D9158-FD65-4D2A-BAE6-C4B18109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1B7DEB-86B4-4D60-B0B8-80024E88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01EDC2-D17A-4C4D-8788-3747B26B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098074-B1B6-4ECB-A26F-FADC76C4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340DCA-463D-4300-B3E2-72CE6BC6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270179-C8FF-4530-AA57-AB86545F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68A313-F118-48EF-BCBE-6FC52E17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11DFB2-7AEF-4F4A-B10E-6C6EA521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6D870D-F574-4400-805B-58C3F88F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Links para mostrar videos/referencias en vivo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238193-9B78-425E-B7E1-BD5AF14F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Estos enlaces sirven como apoyo para abrir durante la presentacion si quieren mostrar el comportamiento real de apps o guias oficiales.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5A9179-E317-44E3-8651-4992BFBF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9334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D58600-933A-4861-85EF-792E6422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57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0929C8-6A16-4113-BEF0-FF0DC7EF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336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WhatsApp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249B07-1122-4584-80E0-39E478D7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336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9FB2CC"/>
                </a:solidFill>
                <a:latin typeface="Aptos"/>
                <a:ea typeface="Aptos"/>
                <a:cs typeface="Aptos"/>
              </a:rPr>
              <a:t>Eliminar mensajes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6AD180-3183-4402-87E0-C5197571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336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35D9F2"/>
                </a:solidFill>
                <a:latin typeface="Aptos"/>
                <a:ea typeface="Aptos"/>
                <a:cs typeface="Aptos"/>
              </a:rPr>
              <a:t>https://faq.whatsapp.com/1370476507114859/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9509E2-69DC-44D1-BAF8-66A3C161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9334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F1E33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86D1F4-D522-4668-9602-99789071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57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C42392-6CD3-4805-9D3C-241DEF0E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432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Material Design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D61FD4-439E-45BF-9744-1C4309BF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432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9FB2CC"/>
                </a:solidFill>
                <a:latin typeface="Aptos"/>
                <a:ea typeface="Aptos"/>
                <a:cs typeface="Aptos"/>
              </a:rPr>
              <a:t>Bottom sheets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6CAC68-CCD3-41D3-BD26-3FA317E4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432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35D9F2"/>
                </a:solidFill>
                <a:latin typeface="Aptos"/>
                <a:ea typeface="Aptos"/>
                <a:cs typeface="Aptos"/>
              </a:rPr>
              <a:t>https://m3.material.io/components/bottom-sheets/overview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E27AB5-EC58-4214-9193-9294F596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9334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48C5CB-68C0-4623-AF10-21A937AB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57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0FA837-244E-4C24-BE5B-12883599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Material Design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803FC9-D629-4A8C-ADF4-C439BDF7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528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9FB2CC"/>
                </a:solidFill>
                <a:latin typeface="Aptos"/>
                <a:ea typeface="Aptos"/>
                <a:cs typeface="Aptos"/>
              </a:rPr>
              <a:t>Dialogs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7C56CE-49E6-4DC5-8ED1-6C7BB655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528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35D9F2"/>
                </a:solidFill>
                <a:latin typeface="Aptos"/>
                <a:ea typeface="Aptos"/>
                <a:cs typeface="Aptos"/>
              </a:rPr>
              <a:t>https://m3.material.io/components/dialogs/overview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C16DC7-6093-4C90-B524-C79B0EDB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9334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F1E33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D19FBB-F7E9-4053-9C05-E832FAFA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7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A5EA03-CCCF-48EC-8B20-22B8AFE3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624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Google Maps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3D094C-D174-4F4C-AC30-7A6DC774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624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9FB2CC"/>
                </a:solidFill>
                <a:latin typeface="Aptos"/>
                <a:ea typeface="Aptos"/>
                <a:cs typeface="Aptos"/>
              </a:rPr>
              <a:t>Rutas y opciones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D85F95-76D8-4572-A4E7-B8B58837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624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35D9F2"/>
                </a:solidFill>
                <a:latin typeface="Aptos"/>
                <a:ea typeface="Aptos"/>
                <a:cs typeface="Aptos"/>
              </a:rPr>
              <a:t>https://support.google.com/maps/answer/144339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3C7B20-CA6A-4606-B0D4-6796ED0C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9334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C33D776-83A7-4C1C-B8AD-417D2766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57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9FDB84-55B1-4772-BA2D-9C775D8A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720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Instagram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1311946-499D-4F5A-B1CE-4233773C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720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9FB2CC"/>
                </a:solidFill>
                <a:latin typeface="Aptos"/>
                <a:ea typeface="Aptos"/>
                <a:cs typeface="Aptos"/>
              </a:rPr>
              <a:t>Centro de ayuda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6AB905-F281-4322-B2B8-9B37456C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1720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35D9F2"/>
                </a:solidFill>
                <a:latin typeface="Aptos"/>
                <a:ea typeface="Aptos"/>
                <a:cs typeface="Aptos"/>
              </a:rPr>
              <a:t>https://help.instagram.com/</a:t>
            </a:r>
          </a:p>
        </p:txBody>
      </p:sp>
    </p:spTree>
    <p:extLst>
      <p:ext uri="{BB962C8B-B14F-4D97-AF65-F5344CB8AC3E}">
        <p14:creationId xmlns:p14="http://schemas.microsoft.com/office/powerpoint/2010/main" val="101151057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0D2EF6-52B9-4D2E-B63F-46144738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18BA9-154E-41CD-94BF-4AFA85FE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68B686-476C-4291-9D36-939C7EA9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60F32E-8A5D-4F59-94EF-6CDE19A4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34B35-0DAE-4D14-8754-CF7808ED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324D21-0880-442D-BF4C-479C4946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78BC2-97BA-4F70-BEB7-EABE8407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3F0A27-5423-4C88-8B77-3CEC2CDF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B913A9-152F-4D71-B227-FDF9C0A9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74A0B6-5DB6-49AA-A09C-96F31ABE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E530A-1BCF-4D7E-80DF-6FC5AC9A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C8BCC-3C16-4FA0-A0DF-3A41893E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ED49CB-6BA7-48FB-9C05-1981FB58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8E1B30-E285-4A29-8051-8AF0218E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0E6070-5473-45E2-804B-78FDAEFF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20A4D0-FEA9-456D-969C-77F30A75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0D42E5-B2DB-4C8B-8772-9C6B5645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817149-0B48-42DD-B8E8-482B0FFA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41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0CE640-68BF-464B-806F-0D43F71F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2D1BA7-339B-48CB-A16D-5316190C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HTML: ejemplos animados tipo GIF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58D888-00AE-43AC-8611-88BC4659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En el archivo HTML, las pantallas de WhatsApp, Instagram, TikTok, Maps, Amazon y banca se animan como microclips: Modal aparece, Bottom Sheet sube y el contenido mantiene contexto.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F961E3-F207-4D9A-9C13-A060229F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3143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6A9A26-8087-4212-89A5-FD775E9B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A4BA10-8669-47C4-9F90-F15E8290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Animacion directa en navegador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D6CB1A-0F09-4F56-ACE7-59BFEF01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9565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9FB2CC"/>
                </a:solidFill>
                <a:latin typeface="Aptos"/>
                <a:ea typeface="Aptos"/>
                <a:cs typeface="Aptos"/>
              </a:rPr>
              <a:t>Animado en HTML.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1EA2E6-8CF5-43BF-B1B5-079DD716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3143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F30532-5482-49C6-AB74-C35D0B18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AF492D-0F44-4777-B6C2-A23C552F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527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Sin descargar videos de terceros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F2243C-5FF2-49A9-A128-D1EC6DD3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9565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9FB2CC"/>
                </a:solidFill>
                <a:latin typeface="Aptos"/>
                <a:ea typeface="Aptos"/>
                <a:cs typeface="Aptos"/>
              </a:rPr>
              <a:t>Animado en HTML.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C5DD23-D007-4366-9D9A-33D17835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6CCA43-4CF2-4258-B9AB-AC4868A9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4B207A-4E40-4772-8D96-E8665B6F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195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Mismo diseno visual del deck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F08148-9F44-45ED-AF25-3B832037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9FB2CC"/>
                </a:solidFill>
                <a:latin typeface="Aptos"/>
                <a:ea typeface="Aptos"/>
                <a:cs typeface="Aptos"/>
              </a:rPr>
              <a:t>Animado en HTML.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179C7A-2B04-45C8-AAC2-835A2C94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6197AB-2F7A-460B-A086-24760E16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4461B2-6CB3-4820-A8CB-363799E9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195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Ideal para proyectar durante la exposicion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E32E3C-4229-44E5-83F5-C3DB358D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6245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9FB2CC"/>
                </a:solidFill>
                <a:latin typeface="Aptos"/>
                <a:ea typeface="Aptos"/>
                <a:cs typeface="Aptos"/>
              </a:rPr>
              <a:t>Animado en HTML.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8D711C-5279-48E4-AC45-B2F8799E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38350"/>
            <a:ext cx="2190750" cy="35242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28575">
            <a:solidFill>
              <a:srgbClr val="33527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C6E677-04B3-4907-9135-7349DD67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86000"/>
            <a:ext cx="1809750" cy="30289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FD77EF-7CE3-4085-8B59-0B3A4003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860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729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C4A42A-EC6F-4C4E-9AFB-52497E64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71800"/>
            <a:ext cx="13906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245BE9-C4BA-4454-A431-BC688ED0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05200"/>
            <a:ext cx="1809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7CE07C-3AAD-4FAF-80F0-67D0B297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10000"/>
            <a:ext cx="13525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9BBC773-6F43-4F54-B697-63013F2E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862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Compartir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D7E2B4-7D7C-4E30-8DD5-0FEC5282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48150"/>
            <a:ext cx="13525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A9957DE-014A-4254-A161-5D15B22E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3243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72A"/>
                </a:solidFill>
                <a:latin typeface="Aptos"/>
                <a:ea typeface="Aptos"/>
                <a:cs typeface="Aptos"/>
              </a:rPr>
              <a:t>Guardar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B9DC2CC-193E-4E61-9E0F-D335A7CC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86300"/>
            <a:ext cx="13525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1D3243-724F-4B99-B24E-906E3883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625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72A"/>
                </a:solidFill>
                <a:latin typeface="Aptos"/>
                <a:ea typeface="Aptos"/>
                <a:cs typeface="Aptos"/>
              </a:rPr>
              <a:t>Reportar</a:t>
            </a:r>
          </a:p>
        </p:txBody>
      </p:sp>
    </p:spTree>
    <p:extLst>
      <p:ext uri="{BB962C8B-B14F-4D97-AF65-F5344CB8AC3E}">
        <p14:creationId xmlns:p14="http://schemas.microsoft.com/office/powerpoint/2010/main" val="104135860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49C28A-85D3-4C39-A2D1-5C745E40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1AE08-9870-44E7-9F76-6C9990C7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BF839-30AF-492A-9F4F-DBA6C0FD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2EE2E-3D68-4B36-B9FC-90E73EDA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1D35B3-CE0D-475F-972D-59CE8BAA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411069-3E99-4CF6-8029-BD1D3B6F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13F116-2D95-4AA2-A827-B98A29CD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FA92A5-61ED-4392-8E70-B0F6DF1F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BECE8-358E-4945-B2C2-9FD0ED87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08B7C5-986E-40FD-BE9D-5BFD8DD6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69EBED-3B18-49E4-AB3F-62231CD8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B5197A-1331-470F-8CBD-74A2BDBC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E00656-E6CF-45A8-AEDB-20DB96D0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2545DE-50E4-420D-8158-D227228A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A37D40-4B7A-4E34-8703-97268766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963976-A169-48C6-8E70-BE6EB9E3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9EEC58-58DA-4B2C-93DD-3D3CE9C9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EEC1BE-3F0F-48A1-8C59-C41BEE09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E073A4-A821-4DB7-B122-A32515E2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BE9A78-3A1F-4C0C-ACAD-49B34514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Como decidir: Modal o Bottom Sheet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3985AC-9483-4547-A288-6656F26D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Una regla simple: si el usuario debe detenerse y decidir, Modal. Si necesita elegir una opcion manteniendo contexto, Bottom Sheet.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6952E2-E0E9-42C9-B593-D20AADC4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4381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9B31FA-8214-484E-BA67-0EE35D64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7E42F0-AB3D-49C0-9C3E-0056CA91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3924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Usa Modal cuando...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BE28BA-6F6D-4661-9B97-28C94B3B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0400"/>
            <a:ext cx="39243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La accion requiera detener al usuario y confirmar.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F3136F-B6F5-4E01-B17D-CC814DBC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47950"/>
            <a:ext cx="4381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EE2710-3099-42A8-B042-29C272CD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479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676B84-A35A-4E76-AE26-348FE5B3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38450"/>
            <a:ext cx="3924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Usa Bottom Sheet cuando...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462A0D-97CF-4E0C-8E02-8E33DA26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00400"/>
            <a:ext cx="39243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El usuario necesite elegir sin perder contexto.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85ABFF-EA15-4870-9190-9FB65715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76650"/>
            <a:ext cx="2381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BF7FE8-55AB-4F9B-9EBD-A7464B25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4332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Accion critica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1D1E19-14E7-4B7E-9C1D-3BF4AF98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14800"/>
            <a:ext cx="2381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8E307A-B617-4641-B1AA-44E96C67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Confirmacion obligatoria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B4390F-7C74-4FE3-A99F-31FE27A9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52950"/>
            <a:ext cx="2381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E20558-4787-4EBA-BDA1-1D4B6629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1962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Error o advertencia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25D97A-85D0-40DB-8953-FCE686B8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91100"/>
            <a:ext cx="2381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F2C27F-BFF0-426D-9F56-26CF16B4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577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Datos sensibles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4B9E3F-DA47-4B0F-A555-7E4C0212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76650"/>
            <a:ext cx="2381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DA6558-99E6-4A2C-8645-440D264B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4332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Opciones rapidas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23ADA4-8DFA-4E1A-9A14-BD539B03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14800"/>
            <a:ext cx="2381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880592-8DD2-4BD3-B5AF-D3645FB5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814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Filtros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F42699-ACE7-4CEC-ADD4-663C5467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52950"/>
            <a:ext cx="2381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490B41-822A-4D4E-BAF8-F3299E0B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1962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Compartir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AA9137-635F-454A-9610-DF1F76F7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91100"/>
            <a:ext cx="2381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48D97B-368A-4649-BBAE-F36068F4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577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Detalles complementarios</a:t>
            </a:r>
          </a:p>
        </p:txBody>
      </p:sp>
    </p:spTree>
    <p:extLst>
      <p:ext uri="{BB962C8B-B14F-4D97-AF65-F5344CB8AC3E}">
        <p14:creationId xmlns:p14="http://schemas.microsoft.com/office/powerpoint/2010/main" val="58248710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B5A13D-06B3-4AAF-8E93-A414BA15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9300D-A4BD-41E8-B016-9BBC9D18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C0B65-76EA-4F42-9A46-0D153916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83FB8-4CEC-45B6-B9D5-5FBC0D6F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BAC9-429F-4205-BCEA-5839403E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2BDDE-58F4-46B0-956D-A4B638F4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65C09-D092-4710-A7CA-6C25A8B5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B8781C-ECD6-42E4-8B72-35C60038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19A167-6EA5-44C4-842A-AE8F1054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4C842-A037-4BA8-8081-20149F2D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E5615-45FA-40C1-AE07-4384FC0C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B1E92C-D550-4D76-8545-23F69888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800A8D-6146-4EA5-8461-D64E7240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9883F6-2FB8-4B6D-9477-AABA697A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00F8F5-82D1-4B34-835D-15CD9AF6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AB1285-7AE4-41A6-BED1-052C5F20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314DEE-6DA6-41E4-99B8-381F25DB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C40E6B-2489-421D-841C-98B1E2C1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43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BB9DF1-A762-42AF-BBBF-4EF93A47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752E63-F366-4594-8A25-327B02BC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Captura de codigo: importaciones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0019E8-A442-4B84-BBE0-02324442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Esta primera captura explica por que necesitamos hooks, Modal, Animated y Pressable.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658AC8-3A01-4202-8BC4-A177F5C8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657225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040B14"/>
          </a:solidFill>
          <a:ln xmlns:a="http://schemas.openxmlformats.org/drawingml/2006/main" w="9525">
            <a:solidFill>
              <a:srgbClr val="24436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87BAA0-DF2A-4BEB-A606-64CD6ECA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657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BDA53B-7175-4FAE-A426-6FCE48A8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9F8E9B-6939-4D80-872F-8CCD343B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4305BB-4112-456F-8F3B-42814D72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0DF02B-42CA-4350-BAF3-40066D97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43200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ModalScreen.js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51CD56-EC13-48C1-AA07-E5BD2989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00400"/>
            <a:ext cx="6038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import { useEffect, useRef, useState } from 'react';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import { StatusBar } from 'expo-status-bar';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import {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Animated,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Modal,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Pressable,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StyleSheet,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Text,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View,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} from 'react-native';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1A3C82-8D36-4B5E-B125-5FAB09C9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9C8AD9-5409-4D34-BC1E-76405B65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23600E-3D91-43AF-AD57-E43BC6E3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146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Clave 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0CE918-E620-4CDB-95F3-54B1F1BA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76600"/>
            <a:ext cx="2400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useState controla visibilidad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6C6E5B-F812-4792-A43A-560C7EE0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84723C-1FF5-421C-AE80-FD787EA5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A4DAA0-0C43-4CB6-8EDE-EADA5E50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052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Clave 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CDA1D2-E096-4E80-A604-96408FB6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67200"/>
            <a:ext cx="2400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useRef conserva Animated.Value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527546-9690-4C4C-9474-0C0799C0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0535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2DBBDE-F5A4-4979-9970-65CC96FB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053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E22F5D-1DA4-4317-9EE1-489CB252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958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Clave 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D215C0C-7DE1-4EF9-B720-D25297F9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57800"/>
            <a:ext cx="2400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Pressable dispara acciones</a:t>
            </a:r>
          </a:p>
        </p:txBody>
      </p:sp>
    </p:spTree>
    <p:extLst>
      <p:ext uri="{BB962C8B-B14F-4D97-AF65-F5344CB8AC3E}">
        <p14:creationId xmlns:p14="http://schemas.microsoft.com/office/powerpoint/2010/main" val="167786212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CDC2AF-FD42-467B-BC55-F87A80C5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87812-E1BF-4AD0-A25D-D2367B72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7601F-414F-4810-9658-A36CD2EB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859853-D582-407E-9C07-52AEEBA2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9450A-CFCE-4137-BF35-AD7311E5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05C91-8661-434A-8D0D-D78F0C2A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B8F7BF-0052-4D09-A332-571464B3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E452F-0F80-40F5-968C-B3DEA8A2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61C601-52F0-4B2B-BCA9-A635A09C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5A4340-E448-4722-B38B-1D2E3C39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2B775-F45A-46A0-A450-CDA2C23F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D92D11-4341-4999-8605-B0799E08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7FA783-2754-4114-9497-8A5406DE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50AD8A-3B89-49A6-A467-00B2284F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A576D8-E735-4B45-8D4B-CA8B3486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E94586-3CBE-4798-BEA2-DC71249C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612BD0-0D3F-4A0A-8B52-59FF05E4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69B18E-C210-46A7-B0EE-D73228A5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44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24B9B5-DA9C-493A-AD2E-C885386B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2BF972-9D22-4FDA-BCDC-B4191963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Captura de codigo: estados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C39E5B-F003-40A4-920A-93733873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Estos estados son el centro de la demo. La interfaz cambia porque ellos cambian.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617323-DEAE-4E7B-9BAE-27BAFD2E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657225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040B14"/>
          </a:solidFill>
          <a:ln xmlns:a="http://schemas.openxmlformats.org/drawingml/2006/main" w="9525">
            <a:solidFill>
              <a:srgbClr val="24436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063F03-200B-443D-8A4E-F729D3A3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657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F7F04C-8B8D-42A9-A0CD-C55A7689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53B9B9-1FCA-43BE-AA90-F2E9762D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371846-C2EA-40D0-8098-397DEF57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BA0D3C-C881-4E20-8938-E87DEB5E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43200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ModalScreen.js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F35363-745D-4ED0-B14D-4E753160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00400"/>
            <a:ext cx="6038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const [modalVisible, setModalVisible] = useState(false);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const [sheetVisible, setSheetVisible] = useState(false);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const [selectedMode, setSelectedMode] = useState('Presencial');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const [reservationConfirmed, setReservationConfirmed] = useState(false);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51EA22-354C-4D4D-AF67-F942BF5A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569FF3-2DD2-411B-AF26-BD0D595A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08C444-E767-4FC9-8C09-FD78182E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146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Clave 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4CE689-2CC9-4DA4-8433-E09DFDD8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76600"/>
            <a:ext cx="2400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booleanos para abrir/cerrar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91FEC8-64D6-4749-BD1E-6627EC56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10761F-1460-4616-AA3A-41B8F4E8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C4B5AB-43A9-4457-ACBB-EDE5D772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052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Clave 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E96A0E-4AF6-4052-B094-278AB3B0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67200"/>
            <a:ext cx="2400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selectedMode guarda eleccion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BB86B5-08D1-463C-A408-2C1171ED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0535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908855-3223-41A2-9806-335A137F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053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9D73DE-D6CA-47A4-A205-98EEFF02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958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Clave 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A86D70-2D47-4F4F-B035-84122746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57800"/>
            <a:ext cx="2400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reservationConfirmed evita confusiones</a:t>
            </a:r>
          </a:p>
        </p:txBody>
      </p:sp>
    </p:spTree>
    <p:extLst>
      <p:ext uri="{BB962C8B-B14F-4D97-AF65-F5344CB8AC3E}">
        <p14:creationId xmlns:p14="http://schemas.microsoft.com/office/powerpoint/2010/main" val="82646347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C0A5FD-3EA1-4661-9623-0DCE8EE3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81099-7DDF-44CD-B5AA-091CB392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170754-B1ED-4D80-B134-140818A8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9AE9A-51BF-4065-84C3-0D7C9EDA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183DE-1C81-454D-8E68-DB6A5500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890238-0414-4B43-B8CC-A641A731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7F67DE-C38F-45F0-AD0F-B11CC84A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AC30E-850E-4018-A457-E65CF986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C16CAD-91ED-4D6F-94C4-256A3F09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5D99C3-6C57-474F-97FC-027E6EA6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3F2B60-53B4-487F-97FA-79C95E9E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6E64F2-D8EB-4AD8-A731-1FAB976B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8DF41A-2432-44A9-8A18-B27F3470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A31699-5B05-4D4F-A6C0-4929B832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C920D-A9BC-4E40-ABCC-D09F4213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D34381-8815-4F16-81CF-BB98D267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8D3125-736C-4B76-A171-D3F8DF9B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5F6EE4-56FA-499D-B209-CF58765E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45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69678D-CF84-4ED9-818E-4415C1B0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6AC601-F704-4D55-B953-63D3AAEF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Captura de codigo: prop visible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D5F434-6A1F-4BAF-9C55-328E24E2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`visible` conecta el estado con el componente nativo Modal.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CAF171-3AFC-463B-8F1C-69E5100E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657225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040B14"/>
          </a:solidFill>
          <a:ln xmlns:a="http://schemas.openxmlformats.org/drawingml/2006/main" w="9525">
            <a:solidFill>
              <a:srgbClr val="24436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61C20D-CE81-4414-8AE4-8DA973E4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657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042563-55B8-4286-BB25-B879F567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18F04B-E3BF-44B8-9451-CE038426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0FBE7B-8734-4153-A13A-BED81F4D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CED61E-9C70-441E-BE34-D9AD317B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43200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ModalScreen.js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A18E2A-42CF-4B87-B885-3D52AD50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00400"/>
            <a:ext cx="6038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&lt;Modal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visible={modalVisible}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animationType="fade"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transparent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onRequestClose={() =&gt; setModalVisible(false)}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&gt;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{/* contenido */}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&lt;/Modal&gt;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434823-0392-4114-AE17-998246C6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C9D438-7B25-4824-9C14-BFE02CC0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37A966-F512-4C98-9CA0-60A076DB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146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Clave 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B0ED73-B1D2-4529-82EA-4B021A0F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76600"/>
            <a:ext cx="2400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visible lee el estado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00F21B-770D-4B00-997C-A28AE091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B22D97-DB5E-440A-AD49-333E5216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B972A5-3934-43C3-AE28-658CDE74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052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Clave 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A2CFFF-22AD-4702-B807-0F3EB7B7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67200"/>
            <a:ext cx="2400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fade suaviza entrada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FB06C4-59F3-4041-9ACD-566D23C1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0535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A76930-3A1C-40E2-AA6E-E09030C1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053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F72969-3863-4E69-860B-DF6093B4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958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Clave 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F72193-89ED-444A-B8BD-A3F080EC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57800"/>
            <a:ext cx="2400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onRequestClose protege Android</a:t>
            </a:r>
          </a:p>
        </p:txBody>
      </p:sp>
    </p:spTree>
    <p:extLst>
      <p:ext uri="{BB962C8B-B14F-4D97-AF65-F5344CB8AC3E}">
        <p14:creationId xmlns:p14="http://schemas.microsoft.com/office/powerpoint/2010/main" val="165282059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C44A8C-3EEC-48F8-AE78-F4E620B8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9CB2B6-FFD9-494B-BE7F-282E9706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8D73C-8EF9-406E-AE41-8F9A8D71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0C209-51EC-44DA-9362-A017201C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7D81A3-BA71-4FEC-AE98-F60C7BE6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BDBDB-794C-4CB5-BBE8-99920994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9CB942-0AB8-4D24-9DE3-7958A467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95625-373A-4CCD-9CE5-DD1CEEA2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A443F-EC2D-4273-AD90-2F4F0DC0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E3C484-870D-4F10-B1FE-474758E2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F3FF60-1542-4E79-A3F1-686DC1E1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ABC9D4-B5F0-48B1-8471-B902CC79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70B66F-82A4-431F-A9E9-F7B14AC7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B74DD2-8DBD-4E7B-9DA0-B74160BB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C586A7-51A8-4C23-967D-2940A58E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B21A40-3D22-4AEB-84D8-47C5C175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0858CF-E77F-4537-80D9-49CA9BCA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7C4D20-C9ED-47C3-AFFD-4D316E96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46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E62021-24D9-4DD7-B43F-4C373FF1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DD2DBC-02E3-4FFD-9936-A5C28049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Captura de codigo: confirmacion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979EAB-CE95-46B4-BFBE-DD2BADBF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La accion de confirmar cambia dos estados: marca la reserva y cierra el Modal.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3DBB1D-F2F8-480F-BCC4-80826449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657225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040B14"/>
          </a:solidFill>
          <a:ln xmlns:a="http://schemas.openxmlformats.org/drawingml/2006/main" w="9525">
            <a:solidFill>
              <a:srgbClr val="24436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ECAB10-4ACC-4D95-8F3E-C6DEFBA5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657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B53663-6C99-430D-B70F-E206655D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F25282-7899-4CE5-B43C-2C6365D8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118ED1-4B77-485D-A69B-BD6DC0EC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EA19D5-5223-4652-92B0-152474F5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43200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ModalScreen.js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06FFD0-0A63-4730-A18A-E903C9B4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00400"/>
            <a:ext cx="6038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&lt;Pressable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onPress={() =&gt; {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  setReservationConfirmed(true);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  setModalVisible(false);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}}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&gt;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&lt;Text&gt;Confirmar&lt;/Text&gt;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&lt;/Pressable&gt;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C2A24F-0E74-45D7-9440-24050349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C18F94-97E2-4B0D-8914-7474ABEB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DF01DB-1AA9-41BC-B5E9-1DE268BE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146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Clave 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4EFF5E-6B49-48F2-9D5C-2519E5EA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76600"/>
            <a:ext cx="2400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Primero confirma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B34125-1C55-433D-9778-760046AF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770619-DA60-44ED-B0EF-77D55D91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741846-F676-4E86-BF77-B97A497A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052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Clave 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58756C-C13C-4D57-A5E8-EDE9BF77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67200"/>
            <a:ext cx="2400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Despues cierra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F53279-A6CB-4109-B4AB-BD0153A7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0535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ABCCC6-1061-4BD9-967D-1D9A562E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053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019735-EC90-4691-BA4D-4D87D79D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958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Clave 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17840F-2804-485A-B353-63ADD369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57800"/>
            <a:ext cx="2400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La UI se actualiza sola</a:t>
            </a:r>
          </a:p>
        </p:txBody>
      </p:sp>
    </p:spTree>
    <p:extLst>
      <p:ext uri="{BB962C8B-B14F-4D97-AF65-F5344CB8AC3E}">
        <p14:creationId xmlns:p14="http://schemas.microsoft.com/office/powerpoint/2010/main" val="160222594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85460E-DE35-44D7-8CE5-A150190F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72D10C-1EB2-4560-858D-41CBD7B2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153EBB-394A-4128-9068-ABD34BF8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EE6D3-6DC2-4EED-AF7F-0C5A71B6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D9DC0-50BC-48FB-9EF2-7B380B30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4D44EC-F465-463E-AFEB-3831B1EC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2AC02-005B-4269-A5AF-5773E24E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FD7C5E-5074-4241-9D75-41FB539D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CD72CE-B6A7-441A-A510-6AB450EF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66D80-4B72-4940-8A2C-94542A8F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C3A360-2304-4F6C-B8A9-BA29D98A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C8F01D-7C82-4E49-B0CE-C5808AB1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D762DD-5368-46F7-84FD-09A7D667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7BA87C-5F06-42DB-BCE3-C743D1ED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C7BFEF-449A-4514-995A-AA1E330E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05320E-E5D2-437F-9B2F-930435AB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46B3A5-2BA0-430B-91DB-77ED047A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0F75A0-13FF-43C3-912B-F2E75840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47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C7D2B0-A3ED-4450-A88C-687E6F5C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3963C3-84A4-4B49-9411-718610B0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Captura de codigo: componente BottomSheet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40EA15-3A32-480D-9495-AC9871B4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La API propia del componente se entiende desde sus props.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38AD8E-4457-4B06-9460-CAB00BC0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657225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040B14"/>
          </a:solidFill>
          <a:ln xmlns:a="http://schemas.openxmlformats.org/drawingml/2006/main" w="9525">
            <a:solidFill>
              <a:srgbClr val="24436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FD58A7-3AAB-4320-8073-E84D7B4A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657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84CF50-AE07-47EB-9CD6-577919F9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BB6E52-D022-4BCE-94B0-B6812BC7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A4E637-F71B-481E-80C1-5F295DD7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BC836F-6BF4-405B-B94A-73DBB012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43200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ModalScreen.js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9C742E-1C34-41B6-BF03-8DD203A3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00400"/>
            <a:ext cx="6038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function BottomSheet({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visible,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onClose,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title,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height = 320,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closeOnBackdropPress = true,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children,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}) {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// cuerpo del componente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DF798B-E00A-4708-A6D5-78C4C0FD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9B5B99-3234-42A0-98A5-15DA4EE4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2D089E-7F6F-41E7-BD67-40E2432A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146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Clave 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D7371D-25E8-469D-B18D-70072DB6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76600"/>
            <a:ext cx="2400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children recibe opciones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1A71BC-020C-419D-853D-A296EA6D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8CC11C-088D-4FD2-8208-34332A3B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C06017-1DF9-4510-BC03-324AF4C3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052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Clave 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462781-006F-4019-BDD2-5CE08F7F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67200"/>
            <a:ext cx="2400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height controla alto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BE23DC-FBC3-4780-B707-21C42DBF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0535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A6B107-307F-485B-A131-C52886DA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053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B1A82D-8A0B-4BB1-8B55-8657709B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958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Clave 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12708D-09A3-484A-8124-714D8900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57800"/>
            <a:ext cx="2400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onClose centraliza cierre</a:t>
            </a:r>
          </a:p>
        </p:txBody>
      </p:sp>
    </p:spTree>
    <p:extLst>
      <p:ext uri="{BB962C8B-B14F-4D97-AF65-F5344CB8AC3E}">
        <p14:creationId xmlns:p14="http://schemas.microsoft.com/office/powerpoint/2010/main" val="106237414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324F08-36B8-4409-875C-1D7BF98B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EDDA3-1484-4B54-8C81-1A7D0DBE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A808E-553B-41D7-B862-0EADAA96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1CE568-2C24-476B-B117-4358E260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6B174-56D4-4B55-A9B5-FE6C506C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204EAB-1E18-45C6-B589-A021A330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6AE90-155C-4C99-A392-4318B021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E11D1-78EB-48A0-9427-391036C8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303EF-9D4A-4A0A-A1D5-21843519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2DBE64-BE81-4E9D-8D8D-D0470AAD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6959AF-0B87-4988-9198-29456D89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0356CD-A4E1-413F-8DE2-807824B0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A2CB36-B78B-493B-A4F5-B49A1DE9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961C81-8AA3-4C16-94C0-EA50EB37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C7D877-6027-43BD-8315-585F96F5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4A5FC6-B52F-4433-B12F-30C3B299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5C741E-1158-4046-9AF4-75C1EDDF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E09FF2-3FDD-4744-A010-88E5EB79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D2614D-AB63-4967-9C20-EB09EDB8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95594C-B60D-4D2F-AF07-985354F3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Captura de codigo: animacion del sheet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E2D1FC-18EA-4A84-9649-395B7CEE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El movimiento se logra animando `translateY`, una propiedad compatible con useNativeDriver.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138902-AB17-4C4A-82C6-6850AAE3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657225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040B14"/>
          </a:solidFill>
          <a:ln xmlns:a="http://schemas.openxmlformats.org/drawingml/2006/main" w="9525">
            <a:solidFill>
              <a:srgbClr val="24436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22FC28-F9F3-40AA-AFDE-2EEA8FEF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657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E48F5E-750D-4A14-9D51-D7FC2D79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35B77C-1585-4718-89D4-6EF8C433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E2FBD7-8735-4E40-B905-4DBFFB8D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5039BC-9BE4-44DE-934A-C29AC7B4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43200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ModalScreen.js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D5FA14-9AE1-4071-8B2A-F118FDB7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00400"/>
            <a:ext cx="6038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Animated.timing(translateY, {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toValue: visible ? 0 : height,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duration: visible ? 250 : 200,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useNativeDriver: true,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}).start();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262CA1-9655-4EE7-9605-8F4F1A9B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A23131-3C4E-4D66-9F46-8D5731A5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76680E-1C50-447F-ACDA-2592C750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146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Clave 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05B7DA-7406-4109-B781-048FBBCA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76600"/>
            <a:ext cx="2400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0 = abierto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1D3E52-1E0C-4CE7-AF99-A0065D74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A70C82-2199-4C11-9418-E05995E8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5AF032-6EDB-4087-8C57-A152E0D9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052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Clave 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208155-33D7-425C-B42A-1F887F29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67200"/>
            <a:ext cx="2400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height = cerrado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DD2C48-6B34-49DC-8B0E-C4BEEC03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0535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54D3CB-B8F6-400C-B62A-8F166F2E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053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E199CC-A0CD-4D6A-B782-11A995E7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958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Clave 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F1B713-AA29-468A-8988-2823B4EE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57800"/>
            <a:ext cx="2400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transform mantiene buen rendimiento</a:t>
            </a:r>
          </a:p>
        </p:txBody>
      </p:sp>
    </p:spTree>
    <p:extLst>
      <p:ext uri="{BB962C8B-B14F-4D97-AF65-F5344CB8AC3E}">
        <p14:creationId xmlns:p14="http://schemas.microsoft.com/office/powerpoint/2010/main" val="2050194228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99033B-321F-44B4-9FDE-ACBCAFFF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B6465-DB8E-4006-AD6A-256FFD50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45304-4858-41CF-8E9B-607B33E0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15E31-B8B8-4278-83C8-9B9F6E67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32F4C4-839D-41AF-AD64-9DF87CFF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F04AF-053C-46E8-BEB5-3E4E1D47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A08F6-C647-4807-A237-58B8E981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FECB67-4801-47FB-83A9-177C227E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3DA096-DBE2-4116-B255-7592C38E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71811D-9674-4428-A33A-46F2881A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79EC47-6A64-40B0-AFE4-479AFD01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C8397A-7D59-4A10-892D-D8F08151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F68F44-16C3-4CAD-AE27-242C5A7F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691A4A-F3C0-4822-9CC6-C6E17CAB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4E6DA1-86D2-4DFF-97F3-1BC973C6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966477-69A6-4DF4-A8D5-24B37B60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023A84-FD39-4006-8F11-A550F40E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19A69F-AF5C-41BC-87C9-4208004A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49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7805C6-0C70-4739-9BE2-AEFBCB93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B9AB0D-AF30-4A3B-9CA1-18DD14C7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Captura de codigo: seleccionar opcion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CCC21D-E17F-4447-9C24-73706B33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Cada opcion del Bottom Sheet actualiza la modalidad y reinicia la confirmacion.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B1B8D4-7A64-4DEE-909D-61D204A4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657225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040B14"/>
          </a:solidFill>
          <a:ln xmlns:a="http://schemas.openxmlformats.org/drawingml/2006/main" w="9525">
            <a:solidFill>
              <a:srgbClr val="24436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2D7013-9417-4E12-BACE-F64FCD4A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657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8EE995-98BC-4399-B83C-3989ACDA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31A2F1-F231-4115-9399-FE9F2D53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BCCB5A-3E3C-4532-8309-0FD759AD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2A7BD4-668B-43AD-ACD6-FBBA9D73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43200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ModalScreen.js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AF2CFA-A3AE-4B1E-A2BC-9EE61532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00400"/>
            <a:ext cx="6038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function selectMode(mode) {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setSelectedMode(mode);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setReservationConfirmed(false);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  setSheetVisible(false);</a:t>
            </a:r>
          </a:p>
          <a:p xmlns:a="http://schemas.openxmlformats.org/drawingml/2006/main">
            <a:pPr>
              <a:defRPr sz="1125">
                <a:solidFill>
                  <a:srgbClr val="D9E8FF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D9E8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EDD9ED-3348-4BC5-9017-6DE5008D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BC9373-16C7-4AAF-92FA-2399690F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5F2C14-B833-4662-B9E9-85B00FBD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146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Clave 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FE841E-EA56-45CB-939C-317016AA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76600"/>
            <a:ext cx="2400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Actualiza modalidad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3FBCD2-73CD-4302-89AB-59FD6E0C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01ADA6-0E24-414C-BAA1-0623C653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11579A-BE25-4078-94BF-6E801E4D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052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Clave 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795557-FFCF-4DA9-864C-1BB4803B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67200"/>
            <a:ext cx="2400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Evita estado viejo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875DD8-5494-43D0-83EE-3D65F980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0535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916A28-04F5-4E2A-BF40-8270AABE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053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D249B9-8F3F-40E5-89EF-B2F9DF7D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958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Clave 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1B490AC-C613-473F-8B8D-1A2C330B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57800"/>
            <a:ext cx="2400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Cierra el panel</a:t>
            </a:r>
          </a:p>
        </p:txBody>
      </p:sp>
    </p:spTree>
    <p:extLst>
      <p:ext uri="{BB962C8B-B14F-4D97-AF65-F5344CB8AC3E}">
        <p14:creationId xmlns:p14="http://schemas.microsoft.com/office/powerpoint/2010/main" val="206112146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60B0FC-659A-4F38-8606-B36C0238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38717-CF89-4CD4-8D3F-2F12CC6B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1D972-D959-4372-9937-1FBF9969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105AF-8A44-4465-BE4C-113F060C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F18EE-DA8A-45B2-A27D-063DD332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475BA-2395-4E02-96E3-7B3EA07C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41F0F-53D1-45A5-8729-79C3FD7C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D41E8B-D346-4BBA-89F0-932F3A7C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8BC7A0-0319-4E16-A084-5FE6FB3A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B1456D-9250-4393-8910-02A40126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510BB-B0E6-4ECE-A2EF-4B794EDD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AAB235-6E1E-4FB8-8E23-C410A09C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26B6F6-B90D-4FE6-8449-178D03FC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8E729F-F8A6-4883-83B8-92DCEE76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D5815-E12A-4CD0-A559-39481DAE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35CDEB-5AD9-4EAF-89AD-BC6EB835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A6AA1C-4772-4FF3-96E5-62A898A1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5D4605-89DC-4D4E-B8CC-CFEF6B8D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BA35E1-9CC0-4865-8FC5-E48F94F0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4C426C-D4B6-4760-9E23-3D5AA193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Microinteracciones que debe notar el grupo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04B593-2634-4DAE-8574-39DFE25A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Estas pequenas decisiones hacen que la practica se sienta como una app real.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E1E97C-C9D9-4DEF-BB02-17468D16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3714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10CC8D-8175-4612-B6CB-20C2C9D5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14E7D2-542B-4C17-9B12-5C674630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9560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Overlay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827B15-04CA-43A7-A094-E7715AD2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Oscurece la pantalla y enfoca la atencion.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F39271-F125-4EE4-ACC8-95AE5A52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05100"/>
            <a:ext cx="3714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F5D648-111C-4ABF-B1A1-FE302480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051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60F046-A3D7-4026-83C8-AAA6A0CF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9560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F52A06-A468-48A4-AF9E-9688848F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575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La barra superior sugiere que el sheet se puede mover.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3B56FB-3AA2-4105-8D03-F0294C7D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3714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64E1A1-9078-4E0C-891F-2F8D497D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ADE9BD-D538-46A7-BC13-B800AF95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Feedback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FB652A-B8EA-46C7-A7E1-1F83BA62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El texto Estado cambia a Confirmada.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9E9554-0684-4DCC-88EB-28F8087C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905250"/>
            <a:ext cx="3714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155763-F627-425C-869B-2FFC68F7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9052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43012A-251C-4F76-9AC3-5C4981EE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9575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Cierre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E685A3-8BB1-40F2-AC9D-94134A22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577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Cancelar, confirmar o tocar fuera.</a:t>
            </a:r>
          </a:p>
        </p:txBody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3c743d0254bd4">
            <a:extLst>
              <a:ext uri="{96DAC541-7B7A-43D3-8B79-37D633B846F1}">
                <asvg:svgBlip xmlns:asvg="http://schemas.microsoft.com/office/drawing/2016/SVG/main" r:embed="R85e55e5d944a4e0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0" y="2857500"/>
            <a:ext cx="2095500" cy="1619250"/>
          </a:xfrm>
          <a:prstGeom xmlns:a="http://schemas.openxmlformats.org/drawingml/2006/main" prst="roundRect">
            <a:avLst>
              <a:gd name="adj" fmla="val 9412"/>
            </a:avLst>
          </a:prstGeom>
        </p:spPr>
      </p:pic>
    </p:spTree>
    <p:extLst>
      <p:ext uri="{BB962C8B-B14F-4D97-AF65-F5344CB8AC3E}">
        <p14:creationId xmlns:p14="http://schemas.microsoft.com/office/powerpoint/2010/main" val="1992430336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B77702-2461-4611-93A4-F09FDAC8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B465B-3ACD-4166-A010-9E5991A3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B21C34-BA91-4E0C-886F-E7B0BBAA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72512-D5C0-4AAE-85C4-33817FA6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F3CDE-3E78-41DF-9B21-96965DF4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E787C-B270-44E7-9027-42125212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E09AC-C305-4308-A2E9-F79D4B88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05A17-FF1B-41CD-A2BA-9A0E7F4D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21098-5845-4C6F-B137-117BEB89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3FF89D-5811-41F4-93BF-F97EE9A3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2CCAE4-ECDF-467A-A08A-8AA9EFEB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D99AA1-1728-4960-988A-F2E3D099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026C2D-834A-45F5-9060-F05ED2C7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000406-05A5-417F-9AAF-5A725557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4E9A71-ACE9-414B-9F48-BD9CD5C9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13130D-8339-45C7-9F2F-418D4E5D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E182C1-15CE-4E60-8B94-055BEB3C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4FEDF6-933E-44A2-84A2-50BF26C4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51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AF859F-A6D7-4E75-8DF7-DADCB2FC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FFFF7C-E0B1-4322-ACF4-9926381C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Accesibilidad y usabilidad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CD94BE-25F2-4012-8AA7-A15594B4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Aunque la practica es introductoria, conviene mencionar que los patrones deben ser claros y cerrables.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2AF8CD-36CA-4FDD-AF81-737AE0CB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3714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0B731E-412F-45D4-9936-C2A755B7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83680D-8947-40B5-90A2-01B99382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9560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Salida clara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9875F5-8FCD-4F6B-9437-1E69B4AD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Siempre debe existir una forma visible de cerrar.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C5D05A-C620-4417-8F4F-3B39EFAF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05100"/>
            <a:ext cx="3714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BCEC79-FDF9-41DE-8053-0065E415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051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4AA49D-D946-4A02-93A9-0C4B8198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9560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Texto directo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67B33C-D8DE-42B4-8423-32739E0C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575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El usuario debe entender que esta decidiendo.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D04BF4-5D30-4780-B30E-082C1D47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3714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808D00-B0C0-4F5F-89F1-82E926B3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960BF1-1F67-4DBD-B93D-CEAC73D1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Contraste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A47E83-F89F-464B-B94A-49AE8E06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Overlay y tarjetas deben leerse bien.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3F4711-0362-4DF7-A1F5-239F00CD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905250"/>
            <a:ext cx="3714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DC72A9-FDFA-4054-A648-465958A4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9052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1F20AF-062B-4545-BD50-613BB88C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9575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 abusar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E6AA05-0BAD-45CA-9555-D5140893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577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Demasiados modales vuelven pesada la app.</a:t>
            </a:r>
          </a:p>
        </p:txBody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7709bcba5b45fa">
            <a:extLst>
              <a:ext uri="{96DAC541-7B7A-43D3-8B79-37D633B846F1}">
                <asvg:svgBlip xmlns:asvg="http://schemas.microsoft.com/office/drawing/2016/SVG/main" r:embed="R14c7e77ba41e415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0" y="2857500"/>
            <a:ext cx="2095500" cy="1619250"/>
          </a:xfrm>
          <a:prstGeom xmlns:a="http://schemas.openxmlformats.org/drawingml/2006/main" prst="roundRect">
            <a:avLst>
              <a:gd name="adj" fmla="val 9412"/>
            </a:avLst>
          </a:prstGeom>
        </p:spPr>
      </p:pic>
    </p:spTree>
    <p:extLst>
      <p:ext uri="{BB962C8B-B14F-4D97-AF65-F5344CB8AC3E}">
        <p14:creationId xmlns:p14="http://schemas.microsoft.com/office/powerpoint/2010/main" val="89529087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9BCF31-EDCE-4425-BBF5-FEA87E7A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3B426-CA20-428C-B76F-27045634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3BE337-D579-4745-907A-D258FEF7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51C9B-BFB7-4884-A1F4-97388E7E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ED08B-A1D9-4B3E-A5FB-19567803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36FFE7-CCCF-44C1-9AF3-1C6BB702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46C49-89D3-4368-AE79-F918A2FA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CDE88-1340-4217-99D8-BD4BD1DC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8DD9AD-9E41-4B0E-B45A-079840A4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5F54E-F7C6-4AA7-80B6-3C1EAF95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1408C4-0BDB-4277-88EC-EA7425C3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D029AC-F154-41AD-B60A-855D1979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8DD1B5-6E86-4C67-966E-E1B0F93D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1942A5-C06E-41AF-9A00-237684BD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1459CD-749D-442E-B3C1-C1E83884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BD3EC5-7B30-46D2-908D-C2F898C6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C472F0-3D3F-42E7-9A63-73FBB595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44125D-0626-46E0-8096-825E7623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52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0D3FA5-2A03-436D-A8F6-48A60BC3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BA13AA-8723-424F-97A1-F2AF432D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Demo sugerida: minuto a minuto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9B9A8F-5F53-4EC0-B376-CC3DC885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Una guia visual para que la exposicion no se sienta improvisada.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5CD599-4A2C-40F5-9EAF-6581E746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2857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742E10-5441-4D41-AB7C-2948C7F0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C4592D-7DED-4B5D-8908-A3F44EF5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956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Paso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21450C-F6A4-41ED-AEE4-55116270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Mostrar pantalla base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47BB8B-A614-489D-9DD0-859E7FD1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05100"/>
            <a:ext cx="2857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BCD6BE-0B18-403C-A230-D5218649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0510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7DFF47-A6B5-445F-BA86-BB284876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956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Paso 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6CC935-F860-45C3-B905-AE05B7C2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5755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Abrir Bottom Sheet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C1B26B-7B5C-41FC-B187-815082A9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05100"/>
            <a:ext cx="2857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04809F-9A7F-46B9-B147-8CC3C4CC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0510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022561-A122-4579-A95B-540BCAB8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956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Paso 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8F8365-12ED-4978-AED3-9A49FC90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5755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Cambiar modalidad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C8172C-A8AC-4F57-9F43-59E9D69A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2857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A1E34F-9181-4FD9-9754-0270400E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925B01-A934-4189-9383-6E01930D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529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Paso 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02AF8D-803F-46DB-AF1E-E1DC982C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1485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Abrir Modal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D66DA1-C3FC-48D1-A472-710D6E67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62400"/>
            <a:ext cx="2857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0ABA05-BD0F-4443-A66C-E430D674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6240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53CC41-2CDA-4031-95BF-626692A6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529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Paso 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46ABD2-7E8B-4E5A-AA46-DB2FE3C1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1485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Confirmar reserva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EFC802-AFBE-4039-AD66-6FA85A2A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962400"/>
            <a:ext cx="2857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79B390-2A31-45EF-997C-8B8B40CE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96240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85F6B5-96C4-4196-B84F-F07D57F2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529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Paso 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D627C83-C624-45F8-8B2C-56592E50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1485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Explicar state final</a:t>
            </a:r>
          </a:p>
        </p:txBody>
      </p:sp>
    </p:spTree>
    <p:extLst>
      <p:ext uri="{BB962C8B-B14F-4D97-AF65-F5344CB8AC3E}">
        <p14:creationId xmlns:p14="http://schemas.microsoft.com/office/powerpoint/2010/main" val="544233895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F8BEAB-E337-4AC5-8550-903561EA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4465A-404A-4360-90F9-7B8D93A5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9E6AB-865B-4A23-A591-0A064725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8A3DA6-DB8F-4C7E-81FA-0000381E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87E1E0-ADF4-4C8E-8750-EB3952A0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1EB71-EF7E-47D5-8297-C766A3EF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D6DB2-D35E-4377-A69B-47E064BB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B05202-BC5A-469A-ACCA-96BC71C4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E3C8A-7B97-4B65-970F-6EE7EB4C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066DEB-0DC4-4B97-8BF4-319EDF03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526A80-CAAB-4167-8838-E365CB4D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DF97B2-E589-45BC-9F77-F32B8EC6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0151CE-6A93-4BA6-8595-E2EAE55C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FA5948-983E-4FEE-88FC-2B466392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84C0D4-A570-495F-A9B9-6462369B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11E3FC-70B7-4B76-AA43-CFDDF832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A4C011-A93B-460E-A715-D8CF63C8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F98233-A273-4DB9-AEC1-FD417225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53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EC1405-B776-47AE-9500-3B26569C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62D8D4-8FF6-4988-A641-88D3E0CE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Guion extendido por persona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97D2CE-3124-4F58-9901-699AB3AE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Cada integrante puede apoyarse en estas frases para mantener la presentacion equilibrada.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693EC0-2806-4BDA-9537-E4A7F8DD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1333500" cy="2381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28575">
            <a:solidFill>
              <a:srgbClr val="33527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79FB85-7AC9-4AFC-A5DB-254B010A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28950"/>
            <a:ext cx="952500" cy="18859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6E0CAF-D8BB-4837-9610-676FD5A3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28950"/>
            <a:ext cx="95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72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D9214D-3663-44D0-9CE4-3E81DDA6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19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CF8327-0A7A-4F8A-839F-08F58899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67200"/>
            <a:ext cx="19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BF7D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9A5E58-D4B2-42E7-B788-C0E0CAC3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62500"/>
            <a:ext cx="19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46DA37-FA3A-4672-9A1E-216B7818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257800"/>
            <a:ext cx="19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BF7D0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BF0456-78E4-4AAA-A462-671B65A3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43350"/>
            <a:ext cx="419100" cy="7048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6CFECA-1960-470F-8377-8BF7A4E1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133850"/>
            <a:ext cx="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72A"/>
                </a:solidFill>
                <a:latin typeface="Aptos"/>
                <a:ea typeface="Aptos"/>
                <a:cs typeface="Aptos"/>
              </a:rPr>
              <a:t>Eliminar mensaje?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ADF1FC-D0DF-4FE8-AA46-9FA8BA17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38650"/>
            <a:ext cx="6667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64EA87-5CDF-4C30-8EB9-4DF2BC6D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6667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8C05CD-D9DE-4B26-8AF3-315C8B14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71800"/>
            <a:ext cx="1619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61ED32-F379-4F6F-833C-F04423C1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718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29C512-A7EE-45BA-9731-AEA21B30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6230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Persona 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73A924-605C-4D07-815D-28E918EA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24250"/>
            <a:ext cx="1162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Explica Modal, props visibles y confirmacion.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79F1CE-95A7-47C1-A658-C45E8679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81300"/>
            <a:ext cx="1333500" cy="2381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28575">
            <a:solidFill>
              <a:srgbClr val="33527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8176C1-313E-43A6-A84C-5A817C6A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28950"/>
            <a:ext cx="952500" cy="18859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A4622C-51A7-4028-81D6-9105E2AD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28950"/>
            <a:ext cx="95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729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08B73C-BD69-4008-87F1-B18ED1BF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14750"/>
            <a:ext cx="5334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8ED01F-D017-408E-9B64-8DC63581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05150"/>
            <a:ext cx="952500" cy="18097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8A77F1-4DF1-4B01-B5B0-B9122D17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09950"/>
            <a:ext cx="495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2357D5-5048-4FDF-A7B8-180B6121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48615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Compartir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A68623-DAB3-4DA4-BEDC-7692D5DE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48100"/>
            <a:ext cx="495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AB1B45-471F-41E9-9F47-CB4D0E19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92430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72A"/>
                </a:solidFill>
                <a:latin typeface="Aptos"/>
                <a:ea typeface="Aptos"/>
                <a:cs typeface="Aptos"/>
              </a:rPr>
              <a:t>Guardar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1E95720-95D8-4303-A65D-8C45D713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286250"/>
            <a:ext cx="495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456B614-5786-48F2-B5E5-D89F8C03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36245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72A"/>
                </a:solidFill>
                <a:latin typeface="Aptos"/>
                <a:ea typeface="Aptos"/>
                <a:cs typeface="Aptos"/>
              </a:rPr>
              <a:t>Reportar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E19682-E5A1-4739-8EAB-D4919E8B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971800"/>
            <a:ext cx="1619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EE3F6D4-86E3-411E-B110-AE0A7D6F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9718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A4F21A2-08A0-4ECE-B738-D7E2D99A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6230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Persona 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9D99129-3A15-4A05-8338-DE6BA69E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24250"/>
            <a:ext cx="1162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Explica Bottom Sheet, Animated y children.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F618B22-E93C-492C-909A-37E11479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81300"/>
            <a:ext cx="1333500" cy="2381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28575">
            <a:solidFill>
              <a:srgbClr val="33527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771E7F9-4EAB-42E3-8AFD-7A793D27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28950"/>
            <a:ext cx="952500" cy="18859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5D4CE97-247F-48D7-89B7-1715FD25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28950"/>
            <a:ext cx="95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729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126FBF4-7E75-4AA4-8761-380CCB75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71900"/>
            <a:ext cx="457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D97EC95-3F49-4A68-9DC1-1BF28C61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67200"/>
            <a:ext cx="457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D6667AA-A547-4BBB-9FA6-F7458482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62500"/>
            <a:ext cx="457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8BD8A22-9970-46D7-8BE9-DBE954B8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52850"/>
            <a:ext cx="419100" cy="8953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1139140-27DC-4027-BFAC-57DDB2AE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81450"/>
            <a:ext cx="114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72A"/>
                </a:solidFill>
                <a:latin typeface="Aptos"/>
                <a:ea typeface="Aptos"/>
                <a:cs typeface="Aptos"/>
              </a:rPr>
              <a:t>Confirmar transferencia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9A12288-C7F0-467C-A98E-3E9EAC8A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62450"/>
            <a:ext cx="-38100" cy="266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1CC9CAB-BFEB-4300-A01B-AE49EBA6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71800"/>
            <a:ext cx="1619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D5BE789-FACD-48AB-8667-3761CA4B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718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8C458A7-9C11-448E-9BED-1F4BE947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6230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Persona 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70AB517-59C7-45A0-B64F-A7CDB19A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24250"/>
            <a:ext cx="1162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Explica state, flujo, demo y cierre.</a:t>
            </a:r>
          </a:p>
        </p:txBody>
      </p:sp>
    </p:spTree>
    <p:extLst>
      <p:ext uri="{BB962C8B-B14F-4D97-AF65-F5344CB8AC3E}">
        <p14:creationId xmlns:p14="http://schemas.microsoft.com/office/powerpoint/2010/main" val="1699345024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50744E-BA36-49E4-AE17-32FC700E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D1BAD-53BB-419A-ADA2-756CB97F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8057F-83BB-4618-AC27-5473C19B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60A2E9-931B-4558-B949-C305ADE5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7EFFD9-755F-4D9B-A64F-D16828A0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8D0E92-6758-47EA-9F70-503C59B4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F3E40-4490-42D0-9037-1DDDF30E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C80E68-3C4C-4F30-AA8F-7E2CA9F5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6AC468-7926-4131-BC93-2CEAD162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BFAC7B-7BDD-4C23-97B5-14BC2637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672143-9419-4714-A445-2BFBF798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3C0A4B-05E7-4A5C-8126-4B82AF0B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5C6C2D-2D04-490D-AF56-CA1958B6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B5D14-23FE-48FD-AF92-55D72EF0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AB33A-03C8-40A4-95D5-4607AA15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191D16-BC0B-46F2-A0DB-B92A6E11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9B5CE7-A45F-47CC-98CF-6C58613D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046911-CF91-4745-89DE-04095B7F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54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D2FEB2-E386-4CFD-99C0-EF11655B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B6A185-533C-44C2-9825-C5DFB8FD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Resultado final en navegador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96ABF2-FA17-4633-90F5-1D93367D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Asi se vera la practica al terminar: una pantalla de reserva con botones para abrir el Bottom Sheet y el Modal.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61F49F-DE71-4864-BCEE-BD2C945D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9715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19050">
            <a:solidFill>
              <a:srgbClr val="33527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F62764-7C42-453B-8C0F-93EC7F82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971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DA1039-C43F-4827-983C-E1502D04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43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FFB11C-21A3-48D0-8790-6B1F7B88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43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AA03CB-444C-4533-A572-F46BCD0F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43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6C0301-F4EA-4861-9CD9-DB0EC348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495550"/>
            <a:ext cx="37147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24436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14A2F2-98FD-4785-BE28-C497E7B0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543175"/>
            <a:ext cx="2667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9FB2CC"/>
                </a:solidFill>
                <a:latin typeface="Aptos"/>
                <a:ea typeface="Aptos"/>
                <a:cs typeface="Aptos"/>
              </a:rPr>
              <a:t>localhost:8081 / ModalScreen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A6068D-A623-4E52-911C-9110AADA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05150"/>
            <a:ext cx="4000500" cy="230505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2E09F3-3FA6-4D6F-BB90-21747789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71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02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02F"/>
                </a:solidFill>
                <a:latin typeface="Aptos"/>
                <a:ea typeface="Aptos"/>
                <a:cs typeface="Aptos"/>
              </a:rPr>
              <a:t>Reserva de clase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AEFABF-AF13-4692-A516-8597366B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147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F6B7A"/>
                </a:solidFill>
                <a:latin typeface="Aptos"/>
                <a:ea typeface="Aptos"/>
                <a:cs typeface="Aptos"/>
              </a:rPr>
              <a:t>React Native: Modal y Bottom Sheet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3602EB-4587-4F56-8981-F525957F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57650"/>
            <a:ext cx="34290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FD0C41-5CE2-4D98-A896-04C89505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91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820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02F"/>
                </a:solidFill>
                <a:latin typeface="Aptos"/>
                <a:ea typeface="Aptos"/>
                <a:cs typeface="Aptos"/>
              </a:rPr>
              <a:t>Clase practica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479DF2-724D-401B-BD95-AE957511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F4A5A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3F4A5A"/>
                </a:solidFill>
                <a:latin typeface="Aptos"/>
                <a:ea typeface="Aptos"/>
                <a:cs typeface="Aptos"/>
              </a:rPr>
              <a:t>Duracion: 40 minutos    Modalidad: Presencial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BC095F-B4D9-44D4-81DC-5D25BADA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895850"/>
            <a:ext cx="1619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6FEB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ED66D5-4D5C-43C3-883C-D3118B36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95850"/>
            <a:ext cx="1619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263549-8E04-4517-8D92-C02B660E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991100"/>
            <a:ext cx="1143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Elegir modalidad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F6335E-82FF-4A15-AB61-F21C9399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91100"/>
            <a:ext cx="1143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Confirmar reserva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893251-D6C5-4373-A34B-3736F5DA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05150"/>
            <a:ext cx="1962150" cy="23050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41CCF1-8619-4755-83B3-F3D488E0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05150"/>
            <a:ext cx="1962150" cy="23050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A47F22-EB37-42BF-84AB-D39D60C4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71950"/>
            <a:ext cx="19621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428FDB-49FE-443F-B046-882408AE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05300"/>
            <a:ext cx="4000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CED8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DEE31D-EDC1-456A-B311-723F2D10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4767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8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02F"/>
                </a:solidFill>
                <a:latin typeface="Aptos"/>
                <a:ea typeface="Aptos"/>
                <a:cs typeface="Aptos"/>
              </a:rPr>
              <a:t>Elige modalidad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5DD123-2216-4510-A813-912EBC14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705350"/>
            <a:ext cx="1504950" cy="161925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F158415-A785-4237-B498-02340B9B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33925"/>
            <a:ext cx="8572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Presencial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D4D126-FC30-4D31-846A-028A7E86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914900"/>
            <a:ext cx="1504950" cy="161925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59100E9-B731-4EB4-B090-08A74B4F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943475"/>
            <a:ext cx="8572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1">
                <a:solidFill>
                  <a:srgbClr val="3F4A5A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3F4A5A"/>
                </a:solidFill>
                <a:latin typeface="Aptos"/>
                <a:ea typeface="Aptos"/>
                <a:cs typeface="Aptos"/>
              </a:rPr>
              <a:t>En linea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EA54A0-F6FF-49B8-8D9F-FC4215DD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124450"/>
            <a:ext cx="1504950" cy="161925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CA84977-1855-4C21-A4C1-11FD4B7F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153025"/>
            <a:ext cx="8572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1">
                <a:solidFill>
                  <a:srgbClr val="3F4A5A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3F4A5A"/>
                </a:solidFill>
                <a:latin typeface="Aptos"/>
                <a:ea typeface="Aptos"/>
                <a:cs typeface="Aptos"/>
              </a:rPr>
              <a:t>Grabacion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A5671DA-11F0-4C0E-93F7-D2D37E9D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05150"/>
            <a:ext cx="1962150" cy="23050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1576D38-09F9-4948-822F-71EFAD75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05150"/>
            <a:ext cx="1962150" cy="23050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272B1E7-D386-437F-8378-B33B3BC8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90950"/>
            <a:ext cx="150495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4EA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25DD641-0BB0-4ED9-8757-985E13AB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81450"/>
            <a:ext cx="1162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0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02F"/>
                </a:solidFill>
                <a:latin typeface="Aptos"/>
                <a:ea typeface="Aptos"/>
                <a:cs typeface="Aptos"/>
              </a:rPr>
              <a:t>Confirmar reserva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66768E6-DB4C-4EDA-95FB-7E65FCA2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29100"/>
            <a:ext cx="1123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5F6B7A"/>
                </a:solidFill>
                <a:latin typeface="Aptos"/>
                <a:ea typeface="Aptos"/>
                <a:cs typeface="Aptos"/>
              </a:rPr>
              <a:t>Modalidad Presencial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5B52E34-A458-4D65-B5E0-C2808E0E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476250" cy="190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62BEFEA-C690-4C62-BD93-3BDA4105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76750"/>
            <a:ext cx="609600" cy="190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8111801-21BC-4A3C-805D-6E3BCEE5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43600"/>
            <a:ext cx="9715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731A662-EABD-4138-8C4B-6247F9AB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43600"/>
            <a:ext cx="57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3E6EE8D-614A-4B88-860B-2B641BCB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15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Resultado mostrado: pantalla base, Bottom Sheet abierto y Modal de confirmacion en web.</a:t>
            </a:r>
          </a:p>
        </p:txBody>
      </p:sp>
    </p:spTree>
    <p:extLst>
      <p:ext uri="{BB962C8B-B14F-4D97-AF65-F5344CB8AC3E}">
        <p14:creationId xmlns:p14="http://schemas.microsoft.com/office/powerpoint/2010/main" val="79213954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E0F2A2-00DC-423E-8403-6946E2E6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F187A-7D4E-48C8-BD3A-66ED07D4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054B53-2C29-4340-9940-96EE4A18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F6622-9DCA-4594-A57D-8594A328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6F1F27-2EE4-4931-82EB-C9846924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6E2709-A86A-4305-A33A-42EADA4D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380B7-5EEC-4C7D-8757-41A09386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4E3BC1-0325-4D9F-A92D-7363A5C2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7BE7C-5783-48B0-91A2-9CB8AF10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6CBFF0-9CAB-405F-95ED-3E3AC8C0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A6BD9F-D14A-4D52-B06D-5526AD19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B6F1FB-BD83-4411-A531-57BA21B4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9D0B9C-EF00-4874-BF62-3FEEE654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B33417-E377-4615-99D3-98804CC4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CF1211-623A-42BC-8856-D4BD92BD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981D95-5783-4FE7-86E5-2C41BF7B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ABD26A-B6AD-4105-B447-E06334E5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EAA668-72EF-4089-BA23-23F7C6B9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55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53C30B-C3F8-43EE-98BB-F6888E6C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7C1F3B-5E0E-4A46-BAF6-039F2C6C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Cierre: la idea central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683CE5-A36D-45E4-AA7B-1FC2E7FB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Modal confirma. Bottom Sheet ofrece opciones. State conecta la accion del usuario con lo que se ve en pantalla.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2351134cb04980">
            <a:extLst>
              <a:ext uri="{96DAC541-7B7A-43D3-8B79-37D633B846F1}">
                <asvg:svgBlip xmlns:asvg="http://schemas.microsoft.com/office/drawing/2016/SVG/main" r:embed="Ref0f9e9c4c6e4bd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10500" y="1066800"/>
            <a:ext cx="3238500" cy="3143250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77B6AF-1EB5-40F7-8830-3B21B1E1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3048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9D2C43-22E1-441C-978D-BD3AC492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F6016A-BF69-4E8C-8A30-0B3390C6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76550"/>
            <a:ext cx="264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Modal = foco y decision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CFDEB4-05D6-4EA9-8512-2774C577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05100"/>
            <a:ext cx="3048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7607E5-A7DC-43EB-B15C-CC44956E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0510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8D1330-B8A4-4458-A0E6-0CA5E04E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76550"/>
            <a:ext cx="264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Bottom Sheet = opciones rapidas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17080B-D7B0-426A-A1DC-0405983C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048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529EFE-B56F-4D46-9A88-5DB2069A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12093C-9D1B-4EFA-9FEF-DBB42AB8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14750"/>
            <a:ext cx="264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State = memoria de la UI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7C1B52-B0CC-46A3-BA74-D1F6231A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43300"/>
            <a:ext cx="3048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00CF16-6B9E-4FDD-AE7B-AD304F64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4330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B204B2-AF3A-4102-A1CB-4817C28B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264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Animated = movimiento visual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0A0A0E-7C97-4FCA-9857-54BE1AB3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3048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CE8A56-7722-4E58-B9F1-87AAA4CF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E594E2-4870-46A9-BC7D-9C0DC033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52950"/>
            <a:ext cx="264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ModalScreen.js = lugar recomendado</a:t>
            </a:r>
          </a:p>
        </p:txBody>
      </p:sp>
    </p:spTree>
    <p:extLst>
      <p:ext uri="{BB962C8B-B14F-4D97-AF65-F5344CB8AC3E}">
        <p14:creationId xmlns:p14="http://schemas.microsoft.com/office/powerpoint/2010/main" val="1022738617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B71266-37E7-4151-B10E-B6A540AC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2167A-E8A7-4393-8612-7D487491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C88F5-9193-41D0-A273-DC67B5D9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C79A5-05C2-4507-B4E2-DED8E3A4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9842F-77EE-4D40-9D7E-61AA90B7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D808A-2C7F-4782-9D98-EDD8394A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33004C-1E2E-414F-B242-E2EAFF79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FAA6D9-41CB-4244-8372-F1F33B49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8327E-29DB-4FC5-9517-305F6DE3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113510-44C6-42AD-AA96-2885ADEC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172D93-602E-4C99-9ADD-39C9460D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001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4558B9-0755-4592-AA85-245596F6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7AFCD6-008F-49F2-89F5-96B71ECF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9ACE64-64B2-4B68-96B7-AE2AD2E9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4330F5-41B7-41FA-BF7B-2AD3C565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B41833-BB20-455D-A2DE-B765E38E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4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2EC83C-570B-4508-8B92-6E4A81CE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86A6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86A6"/>
                </a:solidFill>
                <a:latin typeface="Aptos"/>
                <a:ea typeface="Aptos"/>
                <a:cs typeface="Aptos"/>
              </a:rPr>
              <a:t>React Native | Modal &amp; Bottom Sheet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146167-042F-450A-AD9C-E853DB32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56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31A22A-A2AD-420F-8813-F4D7F89B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9F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9F2"/>
                </a:solidFill>
                <a:latin typeface="Aptos"/>
                <a:ea typeface="Aptos"/>
                <a:cs typeface="Aptos"/>
              </a:rPr>
              <a:t>MODAL &amp; BOTTOM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A6921B-4DA6-46E2-9223-FA07F0C4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Fuentes y trazabilidad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BF33E3-A128-4E3E-B4BB-A417108A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9FB2CC"/>
                </a:solidFill>
                <a:latin typeface="Aptos"/>
                <a:ea typeface="Aptos"/>
                <a:cs typeface="Aptos"/>
              </a:rPr>
              <a:t>La presentacion se basa en documentacion oficial y en la guia creada para la practica.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7D1035-EA48-4270-91A9-F48C835C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7810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81D1EA-8520-4A1E-A9B3-1EE0FEE3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57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9F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C6798E-3B55-4D08-8377-787E6A4F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86050"/>
            <a:ext cx="735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React Native Docs: Modal 0.81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AAA6A9-3E73-41D0-B33A-80995DE1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48000"/>
            <a:ext cx="7353300" cy="-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Fuente usada para conceptos, props o trazabilidad.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5EEDDD-C361-41D4-B064-FC33E1E2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7810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A36800-8439-4DD2-BB1E-C7DB1756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57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09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D39C5C-1424-4482-9ED4-C22D709C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33750"/>
            <a:ext cx="735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React Native Docs: Animated 0.81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6497DF-FE64-41DA-8E3C-9A8D8394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95700"/>
            <a:ext cx="7353300" cy="-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Fuente usada para conceptos, props o trazabilidad.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5E5E8B-6F33-4987-A9FF-3727035E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90950"/>
            <a:ext cx="7810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12D81B-91F6-4AD7-B897-3BD14876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90950"/>
            <a:ext cx="57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5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9A8472-C6A1-4719-A168-2AA6DEEF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81450"/>
            <a:ext cx="735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React Docs: useState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91D920-56DC-4439-B795-1307F3E8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43400"/>
            <a:ext cx="7353300" cy="-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Fuente usada para conceptos, props o trazabilidad.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2E501B-5159-4786-82FB-D7413E6C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7810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93E90B-1D67-456C-9BAB-B6A0B100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57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A2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1EB200-5A3B-4DB6-B6EE-F3AD8C2F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29150"/>
            <a:ext cx="735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Gorhom Bottom Sheet Docs v5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239103-7E0B-431E-BC21-FE91226B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91100"/>
            <a:ext cx="7353300" cy="-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Fuente usada para conceptos, props o trazabilidad.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48D11C-AF6F-4918-BA3A-B8F9B79A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86350"/>
            <a:ext cx="7810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5415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5D8D2D-EF85-46DC-B13B-1022EEF4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86350"/>
            <a:ext cx="57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C64319-DE72-4869-A63F-FCDFA294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76850"/>
            <a:ext cx="735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PRACTICA_MODAL_BOTTOM_SHEET.md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0DAE9D-095D-41A9-AFBD-F34FF5BC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38800"/>
            <a:ext cx="7353300" cy="-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2C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9FB2CC"/>
                </a:solidFill>
                <a:latin typeface="Aptos"/>
                <a:ea typeface="Aptos"/>
                <a:cs typeface="Aptos"/>
              </a:rPr>
              <a:t>Fuente usada para conceptos, props o trazabilidad.</a:t>
            </a:r>
          </a:p>
        </p:txBody>
      </p:sp>
    </p:spTree>
    <p:extLst>
      <p:ext uri="{BB962C8B-B14F-4D97-AF65-F5344CB8AC3E}">
        <p14:creationId xmlns:p14="http://schemas.microsoft.com/office/powerpoint/2010/main" val="4540493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2026-06-19T05:41:12.7130000Z</dcterms:created>
  <dcterms:modified xsi:type="dcterms:W3CDTF">2026-06-19T05:41:12.7130000Z</dcterms:modified>
</coreProperties>
</file>